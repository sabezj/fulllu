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39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08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My thesis presentation is about LawVoice, a voice-based intelligent assistant for teenagers. The current MVP is available as a web prototype and is designed as an educational tool for discussing everyday legal situations and practicing structured reasoning.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briefly cover the subject area, the relevance of the topic, the goal of the work, the current MVP, its architecture, the main user scenarios, the current limitations, and the next development steps. I will focus on what is already implemented and clearly separate it from what is still planned.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subject area of this work is a voice-first assistant that helps teenagers talk through legal situations in a safe educational format. LawVoice is not positioned as a replacement for a lawyer. Instead, it structures the dialogue: first facts, then risks, then options, and finally a concrete next step. In technical terms, the current LawVoice prototype is a domain-specific layer built on top of an adapted realtime voice-agent 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topic is relevant for several reasons. Teenagers often face legal or quasi-legal conflicts outside a formal classroom, but they may not be ready to read long legal explanations. A voice format lowers the barrier to entry and makes the interaction more natural. At the same time, the value of the system is not only legal literacy but also critical thinking, because the user is encouraged to compare options and consequences instead of searching for one short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of the work is to develop and present the current MVP of a voice-based assistant that helps teenagers explore legal situations and practice structured reasoning. To reach this goal, I define the relevant scenarios, design safe dialogue logic and personas, implement the interface and voice interaction, and then identify the limits of the prototype together with the criteria for future evaluation.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roadmap shows the logic of the project. In the current state, the first four stages are already represented at MVP level: subject analysis, scenario and role design, dialogue logic, and interface implementation. The last two stages, which are pilot testing and impact evaluation, are intentionally treated as future work because they require a separate empirical study and formal measurement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journey is intentionally simple. First, the teenager chooses a scenario and a LawVoice persona. Then the assistant asks for the minimum facts needed to understand the case without collecting unnecessary personal data. After that, LawVoice explains the relevant rights, obligations, and risks in plain language, offers several possible next steps, and finishes with one recommended action plus a short checklist for the next 24 hours. In this way, the conversation supports reasoning rather than passive advice consumption.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what is already present in the current MVP. The interface includes several LawVoice personas, including mentor, peer, analyst, and safety roles. It supports teen and adult modes, a base system prompt, scenario and material input, a knowledge base for uploaded documents, realtime voice dialogue, draft action-plan generation, and analytics such as message count, token usage, and API cost. So the prototype is already more than a static concept slide deck; it is an interactive working MVP.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can be described in three layers. The interface layer contains profile selection, age mode, prompt editing, document input, voice controls, and visual widgets. The logic layer contains intent routing, the LawVoice dialog manager, safety-aware profile switching, and grounded action-plan generation. The AI and data layer combines the OpenAI Realtime API, WebRTC, a Node.js and Express backend, PostgreSQL with pgvector for knowledge chunks, and the current gpt-realtime-mini model. This is why I describe the project as a LawVoice domain layer built on top of an adapted realtime 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the moment, the MVP focuses on three main scenario groups. The first is cyberbullying, where the system helps clarify facts, separate evidence from emotion, and suggest safe next actions. The second is online purchases, where the assistant helps structure the situation around payment, delivery, receipts, screenshots, and possible complaint or return steps. The third is rights at school, where the goal is to explain obligations and boundaries in simple language and help the teenager prepare a calm and practical next step. Across all three scenarios, safety escalation remains a cross-cutting rule.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interface is organized into three functional blocks. First, there is the preparation block, which includes persona selection, age mode, rules, prompt configuration, and document input. Second, there is the live dialogue block with the voice session, microphone, audio feedback, and context prompts. Third, there is the reflection and control block with the draft action plan, analytics, logs, and technical monitoring. This structure is convenient both for a demo session and for a future educational study.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is important to state the limitations clearly. This version is still an MVP, so some interface and logic blocks are demonstrational rather than research-validated. There is no completed classroom pilot yet, so I do not claim measured educational impact. The current legal content is tailored to Russian-language scenarios and still needs expert legal and pedagogical review. In addition, any real educational deployment would require stronger privacy, moderation, and escalation procedures. So this presentation stays intentionally conservative in its claims.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development stage has three directions. The first is content expansion: more scenarios, documents, explanation modes, and role profiles. The second is safety and product maturity: stronger moderation logic, clearer escalation rules, and the replacement of remaining generic elements with fully LawVoice-specific components. The third is evaluation: a pilot study in an educational environment together with metrics for response quality, safety, legal literacy, and critical-thinking support.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the current result is a feasible concept and MVP of a voice-first educational legal assistant for teenagers. The prototype demonstrates that realtime voice interaction can support a reasoning process built around facts, risks, options, and the next step. At the same time, the project should be understood as a basis for further expert review and empirical testing, not as a finalized legal guidance product.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presentation is based on three types of sources: the deployed LawVoice MVP, official OpenAI documentation for the realtime stack, and the current project documentation and implementation materials. I separate these sources deliberately so that the defense remains tied to the real current state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backup slide. If needed, I can use it to show how the main screen is divided into preparation, live voice dialogue, and post-session reflection blocks.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also a backup slide. It summarizes the educational session logic as a short chain from situation to facts, rules and risks, options, and finally a recommended action with a 24-hour checklist.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I will be glad to answer questions about the dialogue logic, the architecture, or the next research stage.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emplate_extract/ppt/media/image1.jp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225296" y="1051560"/>
            <a:ext cx="2011680" cy="310896"/>
          </a:xfrm>
          <a:prstGeom prst="rect">
            <a:avLst/>
          </a:prstGeom>
          <a:noFill/>
          <a:ln/>
        </p:spPr>
        <p:txBody>
          <a:bodyPr wrap="square" lIns="0" tIns="0" rIns="0" bIns="0" rtlCol="0" anchor="ctr">
            <a:normAutofit/>
          </a:bodyPr>
          <a:lstStyle/>
          <a:p>
            <a:pPr marL="0" indent="0">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4" name="Text 1"/>
          <p:cNvSpPr/>
          <p:nvPr/>
        </p:nvSpPr>
        <p:spPr>
          <a:xfrm>
            <a:off x="3584448" y="1042416"/>
            <a:ext cx="2331720" cy="310896"/>
          </a:xfrm>
          <a:prstGeom prst="rect">
            <a:avLst/>
          </a:prstGeom>
          <a:noFill/>
          <a:ln/>
        </p:spPr>
        <p:txBody>
          <a:bodyPr wrap="square" lIns="0" tIns="0" rIns="0" bIns="0" rtlCol="0" anchor="ctr">
            <a:normAutofit/>
          </a:bodyPr>
          <a:lstStyle/>
          <a:p>
            <a:pPr marL="0" indent="0">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5" name="Text 2"/>
          <p:cNvSpPr/>
          <p:nvPr/>
        </p:nvSpPr>
        <p:spPr>
          <a:xfrm>
            <a:off x="8823960" y="1042416"/>
            <a:ext cx="1325880" cy="38404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Moscow</a:t>
            </a:r>
            <a:endParaRPr lang="en-US" sz="750" dirty="0">
              <a:solidFill>
                <a:srgbClr val="28497A"/>
              </a:solidFill>
              <a:latin typeface="HSESans-SemiBold" pitchFamily="50" charset="-52"/>
            </a:endParaRPr>
          </a:p>
          <a:p>
            <a:pPr marL="0" indent="0" algn="l">
              <a:buNone/>
            </a:pPr>
            <a:r>
              <a:rPr lang="en-US" sz="750" dirty="0">
                <a:solidFill>
                  <a:srgbClr val="28497A"/>
                </a:solidFill>
                <a:latin typeface="HSESans-SemiBold" pitchFamily="50" charset="-52"/>
                <a:ea typeface="Arial" pitchFamily="34" charset="-122"/>
                <a:cs typeface="Arial" pitchFamily="34" charset="-120"/>
              </a:rPr>
              <a:t>2026</a:t>
            </a:r>
            <a:endParaRPr lang="en-US" sz="750" dirty="0">
              <a:solidFill>
                <a:srgbClr val="28497A"/>
              </a:solidFill>
              <a:latin typeface="HSESans-SemiBold" pitchFamily="50" charset="-52"/>
            </a:endParaRPr>
          </a:p>
        </p:txBody>
      </p:sp>
      <p:sp>
        <p:nvSpPr>
          <p:cNvPr id="6" name="Text 3"/>
          <p:cNvSpPr/>
          <p:nvPr/>
        </p:nvSpPr>
        <p:spPr>
          <a:xfrm>
            <a:off x="987552" y="1993392"/>
            <a:ext cx="9875520" cy="1024128"/>
          </a:xfrm>
          <a:prstGeom prst="rect">
            <a:avLst/>
          </a:prstGeom>
          <a:noFill/>
          <a:ln/>
        </p:spPr>
        <p:txBody>
          <a:bodyPr wrap="square" lIns="0" tIns="0" rIns="0" bIns="0" rtlCol="0" anchor="ctr">
            <a:normAutofit/>
          </a:bodyPr>
          <a:lstStyle/>
          <a:p>
            <a:pPr marL="0" indent="0" algn="ctr">
              <a:buNone/>
            </a:pPr>
            <a:r>
              <a:rPr lang="en-US" sz="2050" dirty="0">
                <a:solidFill>
                  <a:srgbClr val="182B49"/>
                </a:solidFill>
                <a:latin typeface="HSE Slab Black" panose="02000000000000000000" pitchFamily="50" charset="0"/>
                <a:ea typeface="Arial" pitchFamily="34" charset="-122"/>
                <a:cs typeface="Arial" pitchFamily="34" charset="-120"/>
              </a:rPr>
              <a:t>LawVoice: A Voice-Based Intelligent Assistant</a:t>
            </a:r>
            <a:endParaRPr lang="en-US" sz="2050" dirty="0">
              <a:solidFill>
                <a:srgbClr val="182B49"/>
              </a:solidFill>
              <a:latin typeface="HSE Slab Black" panose="02000000000000000000" pitchFamily="50" charset="0"/>
            </a:endParaRPr>
          </a:p>
          <a:p>
            <a:pPr marL="0" indent="0" algn="ctr">
              <a:buNone/>
            </a:pPr>
            <a:r>
              <a:rPr lang="en-US" sz="2050" dirty="0">
                <a:solidFill>
                  <a:srgbClr val="182B49"/>
                </a:solidFill>
                <a:latin typeface="HSE Slab Black" panose="02000000000000000000" pitchFamily="50" charset="0"/>
                <a:ea typeface="Arial" pitchFamily="34" charset="-122"/>
                <a:cs typeface="Arial" pitchFamily="34" charset="-120"/>
              </a:rPr>
              <a:t>for Exploring Legal Scenarios and Developing</a:t>
            </a:r>
            <a:endParaRPr lang="en-US" sz="2050" dirty="0">
              <a:solidFill>
                <a:srgbClr val="182B49"/>
              </a:solidFill>
              <a:latin typeface="HSE Slab Black" panose="02000000000000000000" pitchFamily="50" charset="0"/>
            </a:endParaRPr>
          </a:p>
          <a:p>
            <a:pPr marL="0" indent="0" algn="ctr">
              <a:buNone/>
            </a:pPr>
            <a:r>
              <a:rPr lang="en-US" sz="2050" dirty="0">
                <a:solidFill>
                  <a:srgbClr val="182B49"/>
                </a:solidFill>
                <a:latin typeface="HSE Slab Black" panose="02000000000000000000" pitchFamily="50" charset="0"/>
                <a:ea typeface="Arial" pitchFamily="34" charset="-122"/>
                <a:cs typeface="Arial" pitchFamily="34" charset="-120"/>
              </a:rPr>
              <a:t>Critical Thinking in Teenagers</a:t>
            </a:r>
            <a:endParaRPr lang="en-US" sz="2050" dirty="0">
              <a:solidFill>
                <a:srgbClr val="182B49"/>
              </a:solidFill>
              <a:latin typeface="HSE Slab Black" panose="02000000000000000000" pitchFamily="50" charset="0"/>
            </a:endParaRPr>
          </a:p>
        </p:txBody>
      </p:sp>
      <p:sp>
        <p:nvSpPr>
          <p:cNvPr id="7" name="Text 4"/>
          <p:cNvSpPr/>
          <p:nvPr/>
        </p:nvSpPr>
        <p:spPr>
          <a:xfrm>
            <a:off x="1005840" y="4718304"/>
            <a:ext cx="4206240" cy="566928"/>
          </a:xfrm>
          <a:prstGeom prst="rect">
            <a:avLst/>
          </a:prstGeom>
          <a:noFill/>
          <a:ln/>
        </p:spPr>
        <p:txBody>
          <a:bodyPr wrap="square" lIns="0" tIns="0" rIns="0" bIns="0" rtlCol="0" anchor="ctr">
            <a:noAutofit/>
          </a:bodyPr>
          <a:lstStyle/>
          <a:p>
            <a:pPr marL="0" indent="0">
              <a:buNone/>
            </a:pPr>
            <a:r>
              <a:rPr lang="en-US" sz="1520" dirty="0">
                <a:solidFill>
                  <a:srgbClr val="182B49"/>
                </a:solidFill>
                <a:latin typeface="HSE Sans Regular"/>
                <a:ea typeface="Arial" pitchFamily="34" charset="-122"/>
                <a:cs typeface="Arial" pitchFamily="34" charset="-120"/>
              </a:rPr>
              <a:t>Student: ____________________</a:t>
            </a:r>
            <a:endParaRPr lang="en-US" sz="1520" dirty="0">
              <a:solidFill>
                <a:srgbClr val="182B49"/>
              </a:solidFill>
              <a:latin typeface="HSE Sans Regular"/>
            </a:endParaRPr>
          </a:p>
          <a:p>
            <a:pPr marL="0" indent="0">
              <a:buNone/>
            </a:pPr>
            <a:r>
              <a:rPr lang="en-US" sz="1520" dirty="0">
                <a:solidFill>
                  <a:srgbClr val="182B49"/>
                </a:solidFill>
                <a:latin typeface="HSE Sans Regular"/>
                <a:ea typeface="Arial" pitchFamily="34" charset="-122"/>
                <a:cs typeface="Arial" pitchFamily="34" charset="-120"/>
              </a:rPr>
              <a:t>Academic Supervisor: ____________________</a:t>
            </a:r>
            <a:endParaRPr lang="en-US" sz="1520" dirty="0">
              <a:solidFill>
                <a:srgbClr val="182B49"/>
              </a:solidFill>
              <a:latin typeface="HSE Sans Regular"/>
            </a:endParaRPr>
          </a:p>
        </p:txBody>
      </p:sp>
      <p:sp>
        <p:nvSpPr>
          <p:cNvPr id="8" name="Text 5"/>
          <p:cNvSpPr/>
          <p:nvPr/>
        </p:nvSpPr>
        <p:spPr>
          <a:xfrm>
            <a:off x="8119872" y="5047488"/>
            <a:ext cx="1965960" cy="201168"/>
          </a:xfrm>
          <a:prstGeom prst="rect">
            <a:avLst/>
          </a:prstGeom>
          <a:noFill/>
          <a:ln/>
        </p:spPr>
        <p:txBody>
          <a:bodyPr wrap="square" lIns="0" tIns="0" rIns="0" bIns="0" rtlCol="0" anchor="ctr">
            <a:normAutofit/>
          </a:bodyPr>
          <a:lstStyle/>
          <a:p>
            <a:r>
              <a:rPr sz="1220">
                <a:solidFill>
                  <a:srgbClr val="28497A"/>
                </a:solidFill>
                <a:latin typeface="HSE Slab Regular"/>
              </a:rPr>
              <a:t>Current MVP: allaw-urist.ru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2</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Contents</a:t>
            </a:r>
            <a:endParaRPr lang="en-US" sz="2250" dirty="0">
              <a:solidFill>
                <a:srgbClr val="182B49"/>
              </a:solidFill>
              <a:latin typeface="HSE Slab Black" panose="02000000000000000000" pitchFamily="50" charset="0"/>
            </a:endParaRPr>
          </a:p>
        </p:txBody>
      </p:sp>
      <p:sp>
        <p:nvSpPr>
          <p:cNvPr id="12" name="Text 8"/>
          <p:cNvSpPr/>
          <p:nvPr/>
        </p:nvSpPr>
        <p:spPr>
          <a:xfrm>
            <a:off x="713232" y="1847088"/>
            <a:ext cx="4160520" cy="4069080"/>
          </a:xfrm>
          <a:prstGeom prst="rect">
            <a:avLst/>
          </a:prstGeom>
          <a:noFill/>
          <a:ln/>
        </p:spPr>
        <p:txBody>
          <a:bodyPr wrap="square" lIns="0" tIns="0" rIns="0" bIns="0" rtlCol="0" anchor="ctr">
            <a:normAutofit/>
          </a:bodyPr>
          <a:lstStyle/>
          <a:p>
            <a:pPr marL="0" indent="0">
              <a:buNone/>
            </a:pPr>
            <a:r>
              <a:rPr lang="en-US" sz="1220" dirty="0">
                <a:solidFill>
                  <a:srgbClr val="182B49"/>
                </a:solidFill>
                <a:latin typeface="HSE Sans Regular"/>
                <a:ea typeface="Arial" pitchFamily="34" charset="-122"/>
                <a:cs typeface="Arial" pitchFamily="34" charset="-120"/>
              </a:rPr>
              <a:t>Subject Area</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Research Relevance</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Goal and Objectives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Research Roadmap</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User Journey</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Current MVP Functionality</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Solution Architecture</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Teen Legal Scenarios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Interface Components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Current Limitations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Future Development</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Expected Results and Conclusions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References</a:t>
            </a:r>
            <a:endParaRPr lang="en-US" sz="1220" dirty="0">
              <a:solidFill>
                <a:srgbClr val="182B49"/>
              </a:solidFill>
              <a:latin typeface="HSE Sans Regular"/>
            </a:endParaRPr>
          </a:p>
          <a:p>
            <a:pPr marL="0" indent="0">
              <a:buNone/>
            </a:pPr>
            <a:r>
              <a:rPr lang="en-US" sz="1220" dirty="0">
                <a:solidFill>
                  <a:srgbClr val="182B49"/>
                </a:solidFill>
                <a:latin typeface="HSE Sans Regular"/>
                <a:ea typeface="Arial" pitchFamily="34" charset="-122"/>
                <a:cs typeface="Arial" pitchFamily="34" charset="-120"/>
              </a:rPr>
              <a:t>Appendix</a:t>
            </a:r>
            <a:endParaRPr lang="en-US" sz="1220" dirty="0">
              <a:solidFill>
                <a:srgbClr val="182B49"/>
              </a:solidFill>
              <a:latin typeface="HSE Sans Regular"/>
            </a:endParaRPr>
          </a:p>
        </p:txBody>
      </p:sp>
      <p:sp>
        <p:nvSpPr>
          <p:cNvPr id="13" name="Shape 9"/>
          <p:cNvSpPr/>
          <p:nvPr/>
        </p:nvSpPr>
        <p:spPr>
          <a:xfrm>
            <a:off x="5257800" y="1847088"/>
            <a:ext cx="0" cy="4023360"/>
          </a:xfrm>
          <a:prstGeom prst="line">
            <a:avLst/>
          </a:prstGeom>
          <a:noFill/>
          <a:ln w="12700">
            <a:solidFill>
              <a:srgbClr val="D6DCE8"/>
            </a:solidFill>
            <a:prstDash val="solid"/>
          </a:ln>
        </p:spPr>
      </p:sp>
      <p:sp>
        <p:nvSpPr>
          <p:cNvPr id="14" name="Shape 10"/>
          <p:cNvSpPr/>
          <p:nvPr/>
        </p:nvSpPr>
        <p:spPr>
          <a:xfrm>
            <a:off x="5623560" y="1975104"/>
            <a:ext cx="5257800" cy="914400"/>
          </a:xfrm>
          <a:prstGeom prst="roundRect">
            <a:avLst>
              <a:gd name="adj" fmla="val 8000"/>
            </a:avLst>
          </a:prstGeom>
          <a:solidFill>
            <a:srgbClr val="0F2E68"/>
          </a:solidFill>
          <a:ln w="12700">
            <a:solidFill>
              <a:srgbClr val="0F2E68"/>
            </a:solidFill>
            <a:prstDash val="solid"/>
          </a:ln>
        </p:spPr>
      </p:sp>
      <p:sp>
        <p:nvSpPr>
          <p:cNvPr id="15" name="Text 11"/>
          <p:cNvSpPr/>
          <p:nvPr/>
        </p:nvSpPr>
        <p:spPr>
          <a:xfrm>
            <a:off x="5733288" y="2084832"/>
            <a:ext cx="503834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Topic</a:t>
            </a:r>
            <a:endParaRPr lang="en-US" sz="1400" dirty="0">
              <a:solidFill>
                <a:srgbClr val="D6E4F5"/>
              </a:solidFill>
              <a:latin typeface="HSE Slab Regular"/>
            </a:endParaRPr>
          </a:p>
        </p:txBody>
      </p:sp>
      <p:sp>
        <p:nvSpPr>
          <p:cNvPr id="16" name="Text 12"/>
          <p:cNvSpPr/>
          <p:nvPr/>
        </p:nvSpPr>
        <p:spPr>
          <a:xfrm>
            <a:off x="5733288" y="2377440"/>
            <a:ext cx="5038344" cy="438912"/>
          </a:xfrm>
          <a:prstGeom prst="rect">
            <a:avLst/>
          </a:prstGeom>
          <a:noFill/>
          <a:ln/>
        </p:spPr>
        <p:txBody>
          <a:bodyPr wrap="square" lIns="0" tIns="0" rIns="0" bIns="0" rtlCol="0" anchor="ctr">
            <a:noAutofit/>
          </a:bodyPr>
          <a:lstStyle/>
          <a:p>
            <a:r>
              <a:rPr sz="1460">
                <a:solidFill>
                  <a:srgbClr val="F8FAFC"/>
                </a:solidFill>
                <a:latin typeface="HSE Sans Regular"/>
              </a:rPr>
              <a:t>LawVoice is a voice-first educational assistant for helping teenagers explore legal situations.</a:t>
            </a:r>
          </a:p>
        </p:txBody>
      </p:sp>
      <p:sp>
        <p:nvSpPr>
          <p:cNvPr id="17" name="Shape 13"/>
          <p:cNvSpPr/>
          <p:nvPr/>
        </p:nvSpPr>
        <p:spPr>
          <a:xfrm>
            <a:off x="5623560" y="3127248"/>
            <a:ext cx="5257800" cy="914400"/>
          </a:xfrm>
          <a:prstGeom prst="roundRect">
            <a:avLst>
              <a:gd name="adj" fmla="val 8000"/>
            </a:avLst>
          </a:prstGeom>
          <a:solidFill>
            <a:srgbClr val="0F2E68"/>
          </a:solidFill>
          <a:ln w="12700">
            <a:solidFill>
              <a:srgbClr val="0F2E68"/>
            </a:solidFill>
            <a:prstDash val="solid"/>
          </a:ln>
        </p:spPr>
      </p:sp>
      <p:sp>
        <p:nvSpPr>
          <p:cNvPr id="18" name="Text 14"/>
          <p:cNvSpPr/>
          <p:nvPr/>
        </p:nvSpPr>
        <p:spPr>
          <a:xfrm>
            <a:off x="5733288" y="3236976"/>
            <a:ext cx="5038344" cy="256032"/>
          </a:xfrm>
          <a:prstGeom prst="rect">
            <a:avLst/>
          </a:prstGeom>
          <a:noFill/>
          <a:ln/>
        </p:spPr>
        <p:txBody>
          <a:bodyPr wrap="square" lIns="0" tIns="0" rIns="0" bIns="0" rtlCol="0" anchor="ctr">
            <a:normAutofit/>
          </a:bodyPr>
          <a:lstStyle/>
          <a:p>
            <a:r>
              <a:rPr sz="1320">
                <a:solidFill>
                  <a:srgbClr val="D6E4F5"/>
                </a:solidFill>
                <a:latin typeface="HSE Slab Regular"/>
              </a:rPr>
              <a:t>Current state</a:t>
            </a:r>
          </a:p>
        </p:txBody>
      </p:sp>
      <p:sp>
        <p:nvSpPr>
          <p:cNvPr id="19" name="Text 15"/>
          <p:cNvSpPr/>
          <p:nvPr/>
        </p:nvSpPr>
        <p:spPr>
          <a:xfrm>
            <a:off x="5733288" y="3529584"/>
            <a:ext cx="5038344" cy="438912"/>
          </a:xfrm>
          <a:prstGeom prst="rect">
            <a:avLst/>
          </a:prstGeom>
          <a:noFill/>
          <a:ln/>
        </p:spPr>
        <p:txBody>
          <a:bodyPr wrap="square" lIns="0" tIns="0" rIns="0" bIns="0" rtlCol="0" anchor="ctr">
            <a:noAutofit/>
          </a:bodyPr>
          <a:lstStyle/>
          <a:p>
            <a:r>
              <a:rPr sz="1460">
                <a:solidFill>
                  <a:srgbClr val="F8FAFC"/>
                </a:solidFill>
                <a:latin typeface="HSE Sans Regular"/>
              </a:rPr>
              <a:t>Current MVP interface, LawVoice personas, dialogue logic, knowledge base, voice flow, and action-plan prototype.</a:t>
            </a:r>
          </a:p>
        </p:txBody>
      </p:sp>
      <p:sp>
        <p:nvSpPr>
          <p:cNvPr id="20" name="Shape 16"/>
          <p:cNvSpPr/>
          <p:nvPr/>
        </p:nvSpPr>
        <p:spPr>
          <a:xfrm>
            <a:off x="5637692" y="4279392"/>
            <a:ext cx="5257800" cy="914400"/>
          </a:xfrm>
          <a:prstGeom prst="roundRect">
            <a:avLst>
              <a:gd name="adj" fmla="val 8000"/>
            </a:avLst>
          </a:prstGeom>
          <a:solidFill>
            <a:srgbClr val="0F2E68"/>
          </a:solidFill>
          <a:ln w="12700">
            <a:solidFill>
              <a:srgbClr val="0F2E68"/>
            </a:solidFill>
            <a:prstDash val="solid"/>
          </a:ln>
        </p:spPr>
      </p:sp>
      <p:sp>
        <p:nvSpPr>
          <p:cNvPr id="21" name="Text 17"/>
          <p:cNvSpPr/>
          <p:nvPr/>
        </p:nvSpPr>
        <p:spPr>
          <a:xfrm>
            <a:off x="5733288" y="4389120"/>
            <a:ext cx="5038344" cy="256032"/>
          </a:xfrm>
          <a:prstGeom prst="rect">
            <a:avLst/>
          </a:prstGeom>
          <a:noFill/>
          <a:ln/>
        </p:spPr>
        <p:txBody>
          <a:bodyPr wrap="square" lIns="0" tIns="0" rIns="0" bIns="0" rtlCol="0" anchor="ctr">
            <a:normAutofit/>
          </a:bodyPr>
          <a:lstStyle/>
          <a:p>
            <a:r>
              <a:rPr sz="1320">
                <a:solidFill>
                  <a:srgbClr val="D6E4F5"/>
                </a:solidFill>
                <a:latin typeface="HSE Slab Regular"/>
              </a:rPr>
              <a:t>Still in progress</a:t>
            </a:r>
          </a:p>
        </p:txBody>
      </p:sp>
      <p:sp>
        <p:nvSpPr>
          <p:cNvPr id="22" name="Text 18"/>
          <p:cNvSpPr/>
          <p:nvPr/>
        </p:nvSpPr>
        <p:spPr>
          <a:xfrm>
            <a:off x="5733288" y="4681728"/>
            <a:ext cx="5038344" cy="438912"/>
          </a:xfrm>
          <a:prstGeom prst="rect">
            <a:avLst/>
          </a:prstGeom>
          <a:noFill/>
          <a:ln/>
        </p:spPr>
        <p:txBody>
          <a:bodyPr wrap="square" lIns="0" tIns="0" rIns="0" bIns="0" rtlCol="0" anchor="ctr">
            <a:noAutofit/>
          </a:bodyPr>
          <a:lstStyle/>
          <a:p>
            <a:r>
              <a:rPr lang="en-US" sz="1460">
                <a:solidFill>
                  <a:srgbClr val="F8FAFC"/>
                </a:solidFill>
                <a:latin typeface="HSE Sans Regular"/>
              </a:rPr>
              <a:t>P</a:t>
            </a:r>
            <a:r>
              <a:rPr sz="1460">
                <a:solidFill>
                  <a:srgbClr val="F8FAFC"/>
                </a:solidFill>
                <a:latin typeface="HSE Sans Regular"/>
              </a:rPr>
              <a:t>ilot-study results, evaluation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3</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Subject Area</a:t>
            </a:r>
            <a:endParaRPr lang="en-US" sz="2250" dirty="0">
              <a:solidFill>
                <a:srgbClr val="182B49"/>
              </a:solidFill>
              <a:latin typeface="HSE Slab Black" panose="02000000000000000000" pitchFamily="50" charset="0"/>
            </a:endParaRPr>
          </a:p>
        </p:txBody>
      </p:sp>
      <p:sp>
        <p:nvSpPr>
          <p:cNvPr id="12" name="Text 8"/>
          <p:cNvSpPr/>
          <p:nvPr/>
        </p:nvSpPr>
        <p:spPr>
          <a:xfrm>
            <a:off x="713232" y="1847088"/>
            <a:ext cx="7269480" cy="868680"/>
          </a:xfrm>
          <a:prstGeom prst="rect">
            <a:avLst/>
          </a:prstGeom>
          <a:noFill/>
          <a:ln/>
        </p:spPr>
        <p:txBody>
          <a:bodyPr wrap="square" lIns="0" tIns="0" rIns="0" bIns="0" rtlCol="0" anchor="ctr">
            <a:normAutofit/>
          </a:bodyPr>
          <a:lstStyle/>
          <a:p>
            <a:r>
              <a:rPr sz="1380">
                <a:solidFill>
                  <a:srgbClr val="182B49"/>
                </a:solidFill>
                <a:latin typeface="HSE Sans Regular"/>
              </a:rPr>
              <a:t>This work focuses on the design and current MVP implementation of LawVoice, a voice-based educational assistant that helps teenagers discuss everyday legal situations in a safe format.</a:t>
            </a:r>
          </a:p>
        </p:txBody>
      </p:sp>
      <p:sp>
        <p:nvSpPr>
          <p:cNvPr id="13" name="Text 9"/>
          <p:cNvSpPr/>
          <p:nvPr/>
        </p:nvSpPr>
        <p:spPr>
          <a:xfrm>
            <a:off x="841248" y="2743200"/>
            <a:ext cx="6583680" cy="2514600"/>
          </a:xfrm>
          <a:prstGeom prst="rect">
            <a:avLst/>
          </a:prstGeom>
          <a:noFill/>
          <a:ln/>
        </p:spPr>
        <p:txBody>
          <a:bodyPr wrap="square" lIns="762" tIns="762" rIns="762" bIns="762" rtlCol="0" anchor="t">
            <a:normAutofit/>
          </a:bodyPr>
          <a:lstStyle/>
          <a:p>
            <a:r>
              <a:rPr sz="1220">
                <a:solidFill>
                  <a:srgbClr val="182B49"/>
                </a:solidFill>
                <a:latin typeface="HSE Sans Regular"/>
              </a:rPr>
              <a:t>- The project is positioned as an educational voice simulator, not as a legal consultation service.</a:t>
            </a:r>
          </a:p>
          <a:p>
            <a:r>
              <a:rPr sz="1220">
                <a:solidFill>
                  <a:srgbClr val="182B49"/>
                </a:solidFill>
                <a:latin typeface="HSE Sans Regular"/>
              </a:rPr>
              <a:t>- The current MVP centers on cyberbullying, online purchases, and rights at school.</a:t>
            </a:r>
          </a:p>
          <a:p>
            <a:r>
              <a:rPr sz="1220">
                <a:solidFill>
                  <a:srgbClr val="182B49"/>
                </a:solidFill>
                <a:latin typeface="HSE Sans Regular"/>
              </a:rPr>
              <a:t>- The implemented dialogue flow clarifies facts, explains risks, suggests options, and ends with a concrete next step.</a:t>
            </a:r>
          </a:p>
          <a:p>
            <a:r>
              <a:rPr sz="1220">
                <a:solidFill>
                  <a:srgbClr val="182B49"/>
                </a:solidFill>
                <a:latin typeface="HSE Sans Regular"/>
              </a:rPr>
              <a:t>- The LawVoice layer is built on top of an adapted OpenAI realtime voice-agent base.</a:t>
            </a:r>
          </a:p>
        </p:txBody>
      </p:sp>
      <p:sp>
        <p:nvSpPr>
          <p:cNvPr id="14" name="Shape 10"/>
          <p:cNvSpPr/>
          <p:nvPr/>
        </p:nvSpPr>
        <p:spPr>
          <a:xfrm>
            <a:off x="7973568" y="2743200"/>
            <a:ext cx="3154680" cy="1920240"/>
          </a:xfrm>
          <a:prstGeom prst="roundRect">
            <a:avLst>
              <a:gd name="adj" fmla="val 3810"/>
            </a:avLst>
          </a:prstGeom>
          <a:solidFill>
            <a:srgbClr val="0F2E68"/>
          </a:solidFill>
          <a:ln w="12700">
            <a:solidFill>
              <a:srgbClr val="0F2E68"/>
            </a:solidFill>
            <a:prstDash val="solid"/>
          </a:ln>
        </p:spPr>
      </p:sp>
      <p:sp>
        <p:nvSpPr>
          <p:cNvPr id="15" name="Text 11"/>
          <p:cNvSpPr/>
          <p:nvPr/>
        </p:nvSpPr>
        <p:spPr>
          <a:xfrm>
            <a:off x="8083296" y="2852928"/>
            <a:ext cx="29352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Core idea</a:t>
            </a:r>
            <a:endParaRPr lang="en-US" sz="1400" dirty="0">
              <a:solidFill>
                <a:srgbClr val="D6E4F5"/>
              </a:solidFill>
              <a:latin typeface="HSE Slab Regular"/>
            </a:endParaRPr>
          </a:p>
        </p:txBody>
      </p:sp>
      <p:sp>
        <p:nvSpPr>
          <p:cNvPr id="16" name="Text 12"/>
          <p:cNvSpPr/>
          <p:nvPr/>
        </p:nvSpPr>
        <p:spPr>
          <a:xfrm>
            <a:off x="8083296" y="3145536"/>
            <a:ext cx="2935224" cy="1444752"/>
          </a:xfrm>
          <a:prstGeom prst="rect">
            <a:avLst/>
          </a:prstGeom>
          <a:noFill/>
          <a:ln/>
        </p:spPr>
        <p:txBody>
          <a:bodyPr wrap="square" lIns="0" tIns="0" rIns="0" bIns="0" rtlCol="0" anchor="ctr">
            <a:normAutofit/>
          </a:bodyPr>
          <a:lstStyle/>
          <a:p>
            <a:r>
              <a:rPr sz="1460">
                <a:solidFill>
                  <a:srgbClr val="F8FAFC"/>
                </a:solidFill>
                <a:latin typeface="HSE Sans Regular"/>
              </a:rPr>
              <a:t>The aim is not simply to give an answer, but to guide the user through a structured chain: facts -&gt; risks -&gt; options -&gt; next step.</a:t>
            </a:r>
          </a:p>
        </p:txBody>
      </p:sp>
      <p:sp>
        <p:nvSpPr>
          <p:cNvPr id="17" name="Shape 13"/>
          <p:cNvSpPr/>
          <p:nvPr/>
        </p:nvSpPr>
        <p:spPr>
          <a:xfrm>
            <a:off x="7973568" y="4828032"/>
            <a:ext cx="3154680" cy="694944"/>
          </a:xfrm>
          <a:prstGeom prst="roundRect">
            <a:avLst>
              <a:gd name="adj" fmla="val 10526"/>
            </a:avLst>
          </a:prstGeom>
          <a:solidFill>
            <a:srgbClr val="0F2E68"/>
          </a:solidFill>
          <a:ln w="12700">
            <a:solidFill>
              <a:srgbClr val="0F2E68"/>
            </a:solidFill>
            <a:prstDash val="solid"/>
          </a:ln>
        </p:spPr>
      </p:sp>
      <p:sp>
        <p:nvSpPr>
          <p:cNvPr id="18" name="Text 14"/>
          <p:cNvSpPr/>
          <p:nvPr/>
        </p:nvSpPr>
        <p:spPr>
          <a:xfrm>
            <a:off x="8083296" y="4937760"/>
            <a:ext cx="293522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Interaction format</a:t>
            </a:r>
            <a:endParaRPr lang="en-US" sz="1320" dirty="0">
              <a:solidFill>
                <a:srgbClr val="D6E4F5"/>
              </a:solidFill>
              <a:latin typeface="HSE Slab Regular"/>
            </a:endParaRPr>
          </a:p>
        </p:txBody>
      </p:sp>
      <p:sp>
        <p:nvSpPr>
          <p:cNvPr id="19" name="Text 15"/>
          <p:cNvSpPr/>
          <p:nvPr/>
        </p:nvSpPr>
        <p:spPr>
          <a:xfrm>
            <a:off x="8083296" y="5230368"/>
            <a:ext cx="2935224" cy="219456"/>
          </a:xfrm>
          <a:prstGeom prst="rect">
            <a:avLst/>
          </a:prstGeom>
          <a:noFill/>
          <a:ln/>
        </p:spPr>
        <p:txBody>
          <a:bodyPr wrap="square" lIns="0" tIns="0" rIns="0" bIns="0" rtlCol="0" anchor="ctr">
            <a:noAutofit/>
          </a:bodyPr>
          <a:lstStyle/>
          <a:p>
            <a:r>
              <a:rPr sz="1520">
                <a:solidFill>
                  <a:srgbClr val="F8FAFC"/>
                </a:solidFill>
                <a:latin typeface="HSE Sans Regular"/>
              </a:rPr>
              <a:t>Voice-first - educational - scenario-based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4</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Research Relevance</a:t>
            </a:r>
            <a:endParaRPr lang="en-US" sz="2250" dirty="0">
              <a:solidFill>
                <a:srgbClr val="182B49"/>
              </a:solidFill>
              <a:latin typeface="HSE Slab Black" panose="02000000000000000000" pitchFamily="50" charset="0"/>
            </a:endParaRPr>
          </a:p>
        </p:txBody>
      </p:sp>
      <p:sp>
        <p:nvSpPr>
          <p:cNvPr id="12" name="Text 8"/>
          <p:cNvSpPr/>
          <p:nvPr/>
        </p:nvSpPr>
        <p:spPr>
          <a:xfrm>
            <a:off x="841248" y="1901952"/>
            <a:ext cx="6537960" cy="3291840"/>
          </a:xfrm>
          <a:prstGeom prst="rect">
            <a:avLst/>
          </a:prstGeom>
          <a:noFill/>
          <a:ln/>
        </p:spPr>
        <p:txBody>
          <a:bodyPr wrap="square" lIns="762" tIns="762" rIns="762" bIns="762" rtlCol="0" anchor="t">
            <a:normAutofit/>
          </a:bodyPr>
          <a:lstStyle/>
          <a:p>
            <a:r>
              <a:rPr sz="1220">
                <a:solidFill>
                  <a:srgbClr val="182B49"/>
                </a:solidFill>
                <a:latin typeface="HSE Sans Regular"/>
              </a:rPr>
              <a:t>- LawVoice addresses everyday situations that teenagers may face outside a formal law class.</a:t>
            </a:r>
          </a:p>
          <a:p>
            <a:r>
              <a:rPr sz="1220">
                <a:solidFill>
                  <a:srgbClr val="182B49"/>
                </a:solidFill>
                <a:latin typeface="HSE Sans Regular"/>
              </a:rPr>
              <a:t>- Voice interaction lowers the entry barrier because speaking through a case can be easier than reading long legal texts.</a:t>
            </a:r>
          </a:p>
          <a:p>
            <a:r>
              <a:rPr sz="1220">
                <a:solidFill>
                  <a:srgbClr val="182B49"/>
                </a:solidFill>
                <a:latin typeface="HSE Sans Regular"/>
              </a:rPr>
              <a:t>- The educational value is connected not only with legal literacy, but also with critical thinking, because the user compares options and consequences.</a:t>
            </a:r>
          </a:p>
          <a:p>
            <a:r>
              <a:rPr sz="1220">
                <a:solidFill>
                  <a:srgbClr val="182B49"/>
                </a:solidFill>
                <a:latin typeface="HSE Sans Regular"/>
              </a:rPr>
              <a:t>- The project combines AI dialogue, safe communication rules, and a practical learning interface in one MVP.</a:t>
            </a:r>
          </a:p>
        </p:txBody>
      </p:sp>
      <p:sp>
        <p:nvSpPr>
          <p:cNvPr id="13" name="Shape 9"/>
          <p:cNvSpPr/>
          <p:nvPr/>
        </p:nvSpPr>
        <p:spPr>
          <a:xfrm>
            <a:off x="7818120" y="2057400"/>
            <a:ext cx="3337560" cy="3246120"/>
          </a:xfrm>
          <a:prstGeom prst="roundRect">
            <a:avLst>
              <a:gd name="adj" fmla="val 1690"/>
            </a:avLst>
          </a:prstGeom>
          <a:solidFill>
            <a:srgbClr val="FFFFFF"/>
          </a:solidFill>
          <a:ln w="12700">
            <a:solidFill>
              <a:srgbClr val="D6DCE8"/>
            </a:solidFill>
            <a:prstDash val="solid"/>
          </a:ln>
        </p:spPr>
      </p:sp>
      <p:sp>
        <p:nvSpPr>
          <p:cNvPr id="14" name="Shape 10"/>
          <p:cNvSpPr/>
          <p:nvPr/>
        </p:nvSpPr>
        <p:spPr>
          <a:xfrm>
            <a:off x="7818120" y="2057400"/>
            <a:ext cx="3337560" cy="310896"/>
          </a:xfrm>
          <a:prstGeom prst="rect">
            <a:avLst/>
          </a:prstGeom>
          <a:solidFill>
            <a:srgbClr val="0F2E68"/>
          </a:solidFill>
          <a:ln w="12700">
            <a:solidFill>
              <a:srgbClr val="0F2E68"/>
            </a:solidFill>
            <a:prstDash val="solid"/>
          </a:ln>
        </p:spPr>
      </p:sp>
      <p:sp>
        <p:nvSpPr>
          <p:cNvPr id="15" name="Text 11"/>
          <p:cNvSpPr/>
          <p:nvPr/>
        </p:nvSpPr>
        <p:spPr>
          <a:xfrm>
            <a:off x="7927848" y="2121408"/>
            <a:ext cx="3118104"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MVP scenarios</a:t>
            </a:r>
            <a:endParaRPr lang="en-US" sz="1320" dirty="0">
              <a:solidFill>
                <a:srgbClr val="D6E4F5"/>
              </a:solidFill>
              <a:latin typeface="HSE Slab Regular"/>
            </a:endParaRPr>
          </a:p>
        </p:txBody>
      </p:sp>
      <p:sp>
        <p:nvSpPr>
          <p:cNvPr id="16" name="Text 12"/>
          <p:cNvSpPr/>
          <p:nvPr/>
        </p:nvSpPr>
        <p:spPr>
          <a:xfrm>
            <a:off x="7946136" y="2441448"/>
            <a:ext cx="3081528" cy="2788920"/>
          </a:xfrm>
          <a:prstGeom prst="rect">
            <a:avLst/>
          </a:prstGeom>
          <a:noFill/>
          <a:ln/>
        </p:spPr>
        <p:txBody>
          <a:bodyPr wrap="square" lIns="0" tIns="0" rIns="0" bIns="0" rtlCol="0" anchor="ctr">
            <a:normAutofit/>
          </a:bodyPr>
          <a:lstStyle/>
          <a:p>
            <a:r>
              <a:rPr sz="1520">
                <a:solidFill>
                  <a:srgbClr val="182B49"/>
                </a:solidFill>
                <a:latin typeface="HSE Sans Regular"/>
              </a:rPr>
              <a:t>Cyberbullying</a:t>
            </a:r>
          </a:p>
          <a:p>
            <a:endParaRPr sz="1520">
              <a:solidFill>
                <a:srgbClr val="182B49"/>
              </a:solidFill>
              <a:latin typeface="HSE Sans Regular"/>
            </a:endParaRPr>
          </a:p>
          <a:p>
            <a:r>
              <a:rPr sz="1520">
                <a:solidFill>
                  <a:srgbClr val="182B49"/>
                </a:solidFill>
                <a:latin typeface="HSE Sans Regular"/>
              </a:rPr>
              <a:t>Online purchases</a:t>
            </a:r>
          </a:p>
          <a:p>
            <a:endParaRPr sz="1520">
              <a:solidFill>
                <a:srgbClr val="182B49"/>
              </a:solidFill>
              <a:latin typeface="HSE Sans Regular"/>
            </a:endParaRPr>
          </a:p>
          <a:p>
            <a:r>
              <a:rPr sz="1520">
                <a:solidFill>
                  <a:srgbClr val="182B49"/>
                </a:solidFill>
                <a:latin typeface="HSE Sans Regular"/>
              </a:rPr>
              <a:t>Rights at school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5</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Goal and Objectives</a:t>
            </a:r>
            <a:endParaRPr lang="en-US" sz="2250" dirty="0">
              <a:solidFill>
                <a:srgbClr val="182B49"/>
              </a:solidFill>
              <a:latin typeface="HSE Slab Black" panose="02000000000000000000" pitchFamily="50" charset="0"/>
            </a:endParaRPr>
          </a:p>
        </p:txBody>
      </p:sp>
      <p:sp>
        <p:nvSpPr>
          <p:cNvPr id="12" name="Shape 8"/>
          <p:cNvSpPr/>
          <p:nvPr/>
        </p:nvSpPr>
        <p:spPr>
          <a:xfrm>
            <a:off x="749808" y="2286000"/>
            <a:ext cx="2971800" cy="2240280"/>
          </a:xfrm>
          <a:prstGeom prst="roundRect">
            <a:avLst>
              <a:gd name="adj" fmla="val 2449"/>
            </a:avLst>
          </a:prstGeom>
          <a:solidFill>
            <a:srgbClr val="FFFFFF"/>
          </a:solidFill>
          <a:ln w="12700">
            <a:solidFill>
              <a:srgbClr val="D6DCE8"/>
            </a:solidFill>
            <a:prstDash val="solid"/>
          </a:ln>
        </p:spPr>
      </p:sp>
      <p:sp>
        <p:nvSpPr>
          <p:cNvPr id="13" name="Shape 9"/>
          <p:cNvSpPr/>
          <p:nvPr/>
        </p:nvSpPr>
        <p:spPr>
          <a:xfrm>
            <a:off x="749808" y="2286000"/>
            <a:ext cx="2971800" cy="310896"/>
          </a:xfrm>
          <a:prstGeom prst="rect">
            <a:avLst/>
          </a:prstGeom>
          <a:solidFill>
            <a:srgbClr val="0F2E68"/>
          </a:solidFill>
          <a:ln w="12700">
            <a:solidFill>
              <a:srgbClr val="0F2E68"/>
            </a:solidFill>
            <a:prstDash val="solid"/>
          </a:ln>
        </p:spPr>
      </p:sp>
      <p:sp>
        <p:nvSpPr>
          <p:cNvPr id="14" name="Text 10"/>
          <p:cNvSpPr/>
          <p:nvPr/>
        </p:nvSpPr>
        <p:spPr>
          <a:xfrm>
            <a:off x="859536" y="2350008"/>
            <a:ext cx="2752344"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Goal</a:t>
            </a:r>
            <a:endParaRPr lang="en-US" sz="1400" dirty="0">
              <a:solidFill>
                <a:srgbClr val="D6E4F5"/>
              </a:solidFill>
              <a:latin typeface="HSE Slab Regular"/>
            </a:endParaRPr>
          </a:p>
        </p:txBody>
      </p:sp>
      <p:sp>
        <p:nvSpPr>
          <p:cNvPr id="15" name="Text 11"/>
          <p:cNvSpPr/>
          <p:nvPr/>
        </p:nvSpPr>
        <p:spPr>
          <a:xfrm>
            <a:off x="877824" y="2670048"/>
            <a:ext cx="2715768" cy="1783080"/>
          </a:xfrm>
          <a:prstGeom prst="rect">
            <a:avLst/>
          </a:prstGeom>
          <a:noFill/>
          <a:ln/>
        </p:spPr>
        <p:txBody>
          <a:bodyPr wrap="square" lIns="0" tIns="0" rIns="0" bIns="0" rtlCol="0" anchor="ctr">
            <a:normAutofit/>
          </a:bodyPr>
          <a:lstStyle/>
          <a:p>
            <a:r>
              <a:rPr sz="1380">
                <a:solidFill>
                  <a:srgbClr val="182B49"/>
                </a:solidFill>
                <a:latin typeface="HSE Sans Regular"/>
              </a:rPr>
              <a:t>To develop and present the current MVP of a voice-based intelligent assistant that helps teenagers explore legal situations and practice structured reasoning.</a:t>
            </a:r>
          </a:p>
        </p:txBody>
      </p:sp>
      <p:sp>
        <p:nvSpPr>
          <p:cNvPr id="16" name="Shape 12"/>
          <p:cNvSpPr/>
          <p:nvPr/>
        </p:nvSpPr>
        <p:spPr>
          <a:xfrm>
            <a:off x="4800600" y="1993392"/>
            <a:ext cx="5989320" cy="3364992"/>
          </a:xfrm>
          <a:prstGeom prst="roundRect">
            <a:avLst>
              <a:gd name="adj" fmla="val 1630"/>
            </a:avLst>
          </a:prstGeom>
          <a:solidFill>
            <a:srgbClr val="FFFFFF"/>
          </a:solidFill>
          <a:ln w="12700">
            <a:solidFill>
              <a:srgbClr val="D6DCE8"/>
            </a:solidFill>
            <a:prstDash val="solid"/>
          </a:ln>
        </p:spPr>
      </p:sp>
      <p:sp>
        <p:nvSpPr>
          <p:cNvPr id="17" name="Shape 13"/>
          <p:cNvSpPr/>
          <p:nvPr/>
        </p:nvSpPr>
        <p:spPr>
          <a:xfrm>
            <a:off x="4800600" y="1993392"/>
            <a:ext cx="5989320" cy="310896"/>
          </a:xfrm>
          <a:prstGeom prst="rect">
            <a:avLst/>
          </a:prstGeom>
          <a:solidFill>
            <a:srgbClr val="0F2E68"/>
          </a:solidFill>
          <a:ln w="12700">
            <a:solidFill>
              <a:srgbClr val="0F2E68"/>
            </a:solidFill>
            <a:prstDash val="solid"/>
          </a:ln>
        </p:spPr>
      </p:sp>
      <p:sp>
        <p:nvSpPr>
          <p:cNvPr id="18" name="Text 14"/>
          <p:cNvSpPr/>
          <p:nvPr/>
        </p:nvSpPr>
        <p:spPr>
          <a:xfrm>
            <a:off x="4910328" y="2057400"/>
            <a:ext cx="5769864"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Objectives</a:t>
            </a:r>
            <a:endParaRPr lang="en-US" sz="1400" dirty="0">
              <a:solidFill>
                <a:srgbClr val="D6E4F5"/>
              </a:solidFill>
              <a:latin typeface="HSE Slab Regular"/>
            </a:endParaRPr>
          </a:p>
        </p:txBody>
      </p:sp>
      <p:sp>
        <p:nvSpPr>
          <p:cNvPr id="19" name="Text 15"/>
          <p:cNvSpPr/>
          <p:nvPr/>
        </p:nvSpPr>
        <p:spPr>
          <a:xfrm>
            <a:off x="4928616" y="2377440"/>
            <a:ext cx="5733288" cy="2907792"/>
          </a:xfrm>
          <a:prstGeom prst="rect">
            <a:avLst/>
          </a:prstGeom>
          <a:noFill/>
          <a:ln/>
        </p:spPr>
        <p:txBody>
          <a:bodyPr wrap="square" lIns="0" tIns="0" rIns="0" bIns="0" rtlCol="0" anchor="ctr">
            <a:normAutofit/>
          </a:bodyPr>
          <a:lstStyle/>
          <a:p>
            <a:r>
              <a:rPr sz="1220">
                <a:solidFill>
                  <a:srgbClr val="182B49"/>
                </a:solidFill>
                <a:latin typeface="HSE Sans Regular"/>
              </a:rPr>
              <a:t>1. Analyze teen legal scenarios and define a safe educational framing.</a:t>
            </a:r>
          </a:p>
          <a:p>
            <a:endParaRPr sz="1220">
              <a:solidFill>
                <a:srgbClr val="182B49"/>
              </a:solidFill>
              <a:latin typeface="HSE Sans Regular"/>
            </a:endParaRPr>
          </a:p>
          <a:p>
            <a:r>
              <a:rPr sz="1220">
                <a:solidFill>
                  <a:srgbClr val="182B49"/>
                </a:solidFill>
                <a:latin typeface="HSE Sans Regular"/>
              </a:rPr>
              <a:t>2. Design dialogue logic, personas, age adaptation, and escalation rules.</a:t>
            </a:r>
          </a:p>
          <a:p>
            <a:endParaRPr sz="1220">
              <a:solidFill>
                <a:srgbClr val="182B49"/>
              </a:solidFill>
              <a:latin typeface="HSE Sans Regular"/>
            </a:endParaRPr>
          </a:p>
          <a:p>
            <a:r>
              <a:rPr sz="1220">
                <a:solidFill>
                  <a:srgbClr val="182B49"/>
                </a:solidFill>
                <a:latin typeface="HSE Sans Regular"/>
              </a:rPr>
              <a:t>3. Implement the current MVP interface, voice interaction, and knowledge-base-supported action planning.</a:t>
            </a:r>
          </a:p>
          <a:p>
            <a:endParaRPr sz="1220">
              <a:solidFill>
                <a:srgbClr val="182B49"/>
              </a:solidFill>
              <a:latin typeface="HSE Sans Regular"/>
            </a:endParaRPr>
          </a:p>
          <a:p>
            <a:r>
              <a:rPr sz="1220">
                <a:solidFill>
                  <a:srgbClr val="182B49"/>
                </a:solidFill>
                <a:latin typeface="HSE Sans Regular"/>
              </a:rPr>
              <a:t>4. Define limitations and next steps for legal, pedagogical, and empirical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6</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Research Roadmap</a:t>
            </a:r>
            <a:endParaRPr lang="en-US" sz="2250" dirty="0">
              <a:solidFill>
                <a:srgbClr val="182B49"/>
              </a:solidFill>
              <a:latin typeface="HSE Slab Black" panose="02000000000000000000" pitchFamily="50" charset="0"/>
            </a:endParaRPr>
          </a:p>
        </p:txBody>
      </p:sp>
      <p:sp>
        <p:nvSpPr>
          <p:cNvPr id="12" name="Shape 8"/>
          <p:cNvSpPr/>
          <p:nvPr/>
        </p:nvSpPr>
        <p:spPr>
          <a:xfrm>
            <a:off x="1051560" y="3291840"/>
            <a:ext cx="9921240" cy="0"/>
          </a:xfrm>
          <a:prstGeom prst="line">
            <a:avLst/>
          </a:prstGeom>
          <a:noFill/>
          <a:ln w="12700">
            <a:solidFill>
              <a:srgbClr val="879BC6"/>
            </a:solidFill>
            <a:prstDash val="solid"/>
          </a:ln>
        </p:spPr>
      </p:sp>
      <p:sp>
        <p:nvSpPr>
          <p:cNvPr id="13" name="Shape 9"/>
          <p:cNvSpPr/>
          <p:nvPr/>
        </p:nvSpPr>
        <p:spPr>
          <a:xfrm>
            <a:off x="868680" y="3108960"/>
            <a:ext cx="365760" cy="365760"/>
          </a:xfrm>
          <a:prstGeom prst="ellipse">
            <a:avLst/>
          </a:prstGeom>
          <a:solidFill>
            <a:srgbClr val="2F5FB7"/>
          </a:solidFill>
          <a:ln w="12700">
            <a:solidFill>
              <a:srgbClr val="FFFFFF"/>
            </a:solidFill>
            <a:prstDash val="solid"/>
          </a:ln>
        </p:spPr>
      </p:sp>
      <p:sp>
        <p:nvSpPr>
          <p:cNvPr id="14" name="Text 10"/>
          <p:cNvSpPr/>
          <p:nvPr/>
        </p:nvSpPr>
        <p:spPr>
          <a:xfrm>
            <a:off x="98755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1</a:t>
            </a:r>
            <a:endParaRPr lang="en-US" sz="950" dirty="0">
              <a:solidFill>
                <a:srgbClr val="D6E4F5"/>
              </a:solidFill>
              <a:latin typeface="HSESans-SemiBold" pitchFamily="50" charset="-52"/>
            </a:endParaRPr>
          </a:p>
        </p:txBody>
      </p:sp>
      <p:sp>
        <p:nvSpPr>
          <p:cNvPr id="15" name="Text 11"/>
          <p:cNvSpPr/>
          <p:nvPr/>
        </p:nvSpPr>
        <p:spPr>
          <a:xfrm>
            <a:off x="521208" y="3639312"/>
            <a:ext cx="1060704" cy="749808"/>
          </a:xfrm>
          <a:prstGeom prst="rect">
            <a:avLst/>
          </a:prstGeom>
          <a:noFill/>
          <a:ln/>
        </p:spPr>
        <p:txBody>
          <a:bodyPr wrap="square" lIns="0" tIns="0" rIns="0" bIns="0" rtlCol="0" anchor="ctr">
            <a:normAutofit/>
          </a:bodyPr>
          <a:lstStyle/>
          <a:p>
            <a:pPr marL="0" indent="0" algn="ctr">
              <a:buNone/>
            </a:pPr>
            <a:r>
              <a:rPr lang="en-US" sz="1320" dirty="0">
                <a:solidFill>
                  <a:srgbClr val="28497A"/>
                </a:solidFill>
                <a:latin typeface="HSE Slab Regular"/>
                <a:ea typeface="Arial" pitchFamily="34" charset="-122"/>
                <a:cs typeface="Arial" pitchFamily="34" charset="-120"/>
              </a:rPr>
              <a:t>Subject area</a:t>
            </a:r>
            <a:endParaRPr lang="en-US" sz="1320" dirty="0">
              <a:solidFill>
                <a:srgbClr val="28497A"/>
              </a:solidFill>
              <a:latin typeface="HSE Slab Regular"/>
            </a:endParaRPr>
          </a:p>
          <a:p>
            <a:pPr marL="0" indent="0" algn="ctr">
              <a:buNone/>
            </a:pPr>
            <a:r>
              <a:rPr lang="en-US" sz="1320" dirty="0">
                <a:solidFill>
                  <a:srgbClr val="28497A"/>
                </a:solidFill>
                <a:latin typeface="HSE Slab Regular"/>
                <a:ea typeface="Arial" pitchFamily="34" charset="-122"/>
                <a:cs typeface="Arial" pitchFamily="34" charset="-120"/>
              </a:rPr>
              <a:t>analysis</a:t>
            </a:r>
            <a:endParaRPr lang="en-US" sz="1320" dirty="0">
              <a:solidFill>
                <a:srgbClr val="28497A"/>
              </a:solidFill>
              <a:latin typeface="HSE Slab Regular"/>
            </a:endParaRPr>
          </a:p>
        </p:txBody>
      </p:sp>
      <p:sp>
        <p:nvSpPr>
          <p:cNvPr id="16" name="Shape 12"/>
          <p:cNvSpPr/>
          <p:nvPr/>
        </p:nvSpPr>
        <p:spPr>
          <a:xfrm>
            <a:off x="2514600" y="3108960"/>
            <a:ext cx="365760" cy="365760"/>
          </a:xfrm>
          <a:prstGeom prst="ellipse">
            <a:avLst/>
          </a:prstGeom>
          <a:solidFill>
            <a:srgbClr val="2F5FB7"/>
          </a:solidFill>
          <a:ln w="12700">
            <a:solidFill>
              <a:srgbClr val="FFFFFF"/>
            </a:solidFill>
            <a:prstDash val="solid"/>
          </a:ln>
        </p:spPr>
      </p:sp>
      <p:sp>
        <p:nvSpPr>
          <p:cNvPr id="17" name="Text 13"/>
          <p:cNvSpPr/>
          <p:nvPr/>
        </p:nvSpPr>
        <p:spPr>
          <a:xfrm>
            <a:off x="263347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2</a:t>
            </a:r>
            <a:endParaRPr lang="en-US" sz="950" dirty="0">
              <a:solidFill>
                <a:srgbClr val="D6E4F5"/>
              </a:solidFill>
              <a:latin typeface="HSESans-SemiBold" pitchFamily="50" charset="-52"/>
            </a:endParaRPr>
          </a:p>
        </p:txBody>
      </p:sp>
      <p:sp>
        <p:nvSpPr>
          <p:cNvPr id="18" name="Text 14"/>
          <p:cNvSpPr/>
          <p:nvPr/>
        </p:nvSpPr>
        <p:spPr>
          <a:xfrm>
            <a:off x="2167128" y="3639312"/>
            <a:ext cx="1060704" cy="749808"/>
          </a:xfrm>
          <a:prstGeom prst="rect">
            <a:avLst/>
          </a:prstGeom>
          <a:noFill/>
          <a:ln/>
        </p:spPr>
        <p:txBody>
          <a:bodyPr wrap="square" lIns="0" tIns="0" rIns="0" bIns="0" rtlCol="0" anchor="ctr">
            <a:normAutofit/>
          </a:bodyPr>
          <a:lstStyle/>
          <a:p>
            <a:pPr marL="0" indent="0" algn="ctr">
              <a:buNone/>
            </a:pPr>
            <a:r>
              <a:rPr lang="en-US" sz="1220" dirty="0">
                <a:solidFill>
                  <a:srgbClr val="28497A"/>
                </a:solidFill>
                <a:latin typeface="HSE Slab Regular"/>
                <a:ea typeface="Arial" pitchFamily="34" charset="-122"/>
                <a:cs typeface="Arial" pitchFamily="34" charset="-120"/>
              </a:rPr>
              <a:t>Scenario and</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role design</a:t>
            </a:r>
            <a:endParaRPr lang="en-US" sz="1220" dirty="0">
              <a:solidFill>
                <a:srgbClr val="28497A"/>
              </a:solidFill>
              <a:latin typeface="HSE Slab Regular"/>
            </a:endParaRPr>
          </a:p>
        </p:txBody>
      </p:sp>
      <p:sp>
        <p:nvSpPr>
          <p:cNvPr id="19" name="Shape 15"/>
          <p:cNvSpPr/>
          <p:nvPr/>
        </p:nvSpPr>
        <p:spPr>
          <a:xfrm>
            <a:off x="4206240" y="3108960"/>
            <a:ext cx="365760" cy="365760"/>
          </a:xfrm>
          <a:prstGeom prst="ellipse">
            <a:avLst/>
          </a:prstGeom>
          <a:solidFill>
            <a:srgbClr val="2F5FB7"/>
          </a:solidFill>
          <a:ln w="12700">
            <a:solidFill>
              <a:srgbClr val="FFFFFF"/>
            </a:solidFill>
            <a:prstDash val="solid"/>
          </a:ln>
        </p:spPr>
      </p:sp>
      <p:sp>
        <p:nvSpPr>
          <p:cNvPr id="20" name="Text 16"/>
          <p:cNvSpPr/>
          <p:nvPr/>
        </p:nvSpPr>
        <p:spPr>
          <a:xfrm>
            <a:off x="432511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3</a:t>
            </a:r>
            <a:endParaRPr lang="en-US" sz="950" dirty="0">
              <a:solidFill>
                <a:srgbClr val="D6E4F5"/>
              </a:solidFill>
              <a:latin typeface="HSESans-SemiBold" pitchFamily="50" charset="-52"/>
            </a:endParaRPr>
          </a:p>
        </p:txBody>
      </p:sp>
      <p:sp>
        <p:nvSpPr>
          <p:cNvPr id="21" name="Text 17"/>
          <p:cNvSpPr/>
          <p:nvPr/>
        </p:nvSpPr>
        <p:spPr>
          <a:xfrm>
            <a:off x="3858768" y="3639312"/>
            <a:ext cx="1060704" cy="749808"/>
          </a:xfrm>
          <a:prstGeom prst="rect">
            <a:avLst/>
          </a:prstGeom>
          <a:noFill/>
          <a:ln/>
        </p:spPr>
        <p:txBody>
          <a:bodyPr wrap="square" lIns="0" tIns="0" rIns="0" bIns="0" rtlCol="0" anchor="ctr">
            <a:normAutofit/>
          </a:bodyPr>
          <a:lstStyle/>
          <a:p>
            <a:pPr marL="0" indent="0" algn="ctr">
              <a:buNone/>
            </a:pPr>
            <a:r>
              <a:rPr lang="en-US" sz="1220" dirty="0">
                <a:solidFill>
                  <a:srgbClr val="28497A"/>
                </a:solidFill>
                <a:latin typeface="HSE Slab Regular"/>
                <a:ea typeface="Arial" pitchFamily="34" charset="-122"/>
                <a:cs typeface="Arial" pitchFamily="34" charset="-120"/>
              </a:rPr>
              <a:t>Dialogue logic</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development</a:t>
            </a:r>
            <a:endParaRPr lang="en-US" sz="1220" dirty="0">
              <a:solidFill>
                <a:srgbClr val="28497A"/>
              </a:solidFill>
              <a:latin typeface="HSE Slab Regular"/>
            </a:endParaRPr>
          </a:p>
        </p:txBody>
      </p:sp>
      <p:sp>
        <p:nvSpPr>
          <p:cNvPr id="22" name="Shape 18"/>
          <p:cNvSpPr/>
          <p:nvPr/>
        </p:nvSpPr>
        <p:spPr>
          <a:xfrm>
            <a:off x="5897880" y="3108960"/>
            <a:ext cx="365760" cy="365760"/>
          </a:xfrm>
          <a:prstGeom prst="ellipse">
            <a:avLst/>
          </a:prstGeom>
          <a:solidFill>
            <a:srgbClr val="2F5FB7"/>
          </a:solidFill>
          <a:ln w="12700">
            <a:solidFill>
              <a:srgbClr val="FFFFFF"/>
            </a:solidFill>
            <a:prstDash val="solid"/>
          </a:ln>
        </p:spPr>
      </p:sp>
      <p:sp>
        <p:nvSpPr>
          <p:cNvPr id="23" name="Text 19"/>
          <p:cNvSpPr/>
          <p:nvPr/>
        </p:nvSpPr>
        <p:spPr>
          <a:xfrm>
            <a:off x="601675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4</a:t>
            </a:r>
            <a:endParaRPr lang="en-US" sz="950" dirty="0">
              <a:solidFill>
                <a:srgbClr val="D6E4F5"/>
              </a:solidFill>
              <a:latin typeface="HSESans-SemiBold" pitchFamily="50" charset="-52"/>
            </a:endParaRPr>
          </a:p>
        </p:txBody>
      </p:sp>
      <p:sp>
        <p:nvSpPr>
          <p:cNvPr id="24" name="Text 20"/>
          <p:cNvSpPr/>
          <p:nvPr/>
        </p:nvSpPr>
        <p:spPr>
          <a:xfrm>
            <a:off x="5550408" y="3639312"/>
            <a:ext cx="1060704" cy="749808"/>
          </a:xfrm>
          <a:prstGeom prst="rect">
            <a:avLst/>
          </a:prstGeom>
          <a:noFill/>
          <a:ln/>
        </p:spPr>
        <p:txBody>
          <a:bodyPr wrap="square" lIns="0" tIns="0" rIns="0" bIns="0" rtlCol="0" anchor="ctr">
            <a:normAutofit/>
          </a:bodyPr>
          <a:lstStyle/>
          <a:p>
            <a:pPr marL="0" indent="0" algn="ctr">
              <a:buNone/>
            </a:pPr>
            <a:r>
              <a:rPr lang="en-US" sz="1220" dirty="0">
                <a:solidFill>
                  <a:srgbClr val="28497A"/>
                </a:solidFill>
                <a:latin typeface="HSE Slab Regular"/>
                <a:ea typeface="Arial" pitchFamily="34" charset="-122"/>
                <a:cs typeface="Arial" pitchFamily="34" charset="-120"/>
              </a:rPr>
              <a:t>MVP interface</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implementation</a:t>
            </a:r>
            <a:endParaRPr lang="en-US" sz="1220" dirty="0">
              <a:solidFill>
                <a:srgbClr val="28497A"/>
              </a:solidFill>
              <a:latin typeface="HSE Slab Regular"/>
            </a:endParaRPr>
          </a:p>
        </p:txBody>
      </p:sp>
      <p:sp>
        <p:nvSpPr>
          <p:cNvPr id="25" name="Shape 21"/>
          <p:cNvSpPr/>
          <p:nvPr/>
        </p:nvSpPr>
        <p:spPr>
          <a:xfrm>
            <a:off x="7726680" y="3108960"/>
            <a:ext cx="365760" cy="365760"/>
          </a:xfrm>
          <a:prstGeom prst="ellipse">
            <a:avLst/>
          </a:prstGeom>
          <a:solidFill>
            <a:srgbClr val="0F2E68"/>
          </a:solidFill>
          <a:ln w="12700">
            <a:solidFill>
              <a:srgbClr val="FFFFFF"/>
            </a:solidFill>
            <a:prstDash val="solid"/>
          </a:ln>
        </p:spPr>
      </p:sp>
      <p:sp>
        <p:nvSpPr>
          <p:cNvPr id="26" name="Text 22"/>
          <p:cNvSpPr/>
          <p:nvPr/>
        </p:nvSpPr>
        <p:spPr>
          <a:xfrm>
            <a:off x="784555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5</a:t>
            </a:r>
            <a:endParaRPr lang="en-US" sz="950" dirty="0">
              <a:solidFill>
                <a:srgbClr val="D6E4F5"/>
              </a:solidFill>
              <a:latin typeface="HSESans-SemiBold" pitchFamily="50" charset="-52"/>
            </a:endParaRPr>
          </a:p>
        </p:txBody>
      </p:sp>
      <p:sp>
        <p:nvSpPr>
          <p:cNvPr id="27" name="Text 23"/>
          <p:cNvSpPr/>
          <p:nvPr/>
        </p:nvSpPr>
        <p:spPr>
          <a:xfrm>
            <a:off x="7379208" y="3639312"/>
            <a:ext cx="1060704" cy="749808"/>
          </a:xfrm>
          <a:prstGeom prst="rect">
            <a:avLst/>
          </a:prstGeom>
          <a:noFill/>
          <a:ln/>
        </p:spPr>
        <p:txBody>
          <a:bodyPr wrap="square" lIns="0" tIns="0" rIns="0" bIns="0" rtlCol="0" anchor="ctr">
            <a:normAutofit/>
          </a:bodyPr>
          <a:lstStyle/>
          <a:p>
            <a:pPr marL="0" indent="0" algn="ctr">
              <a:buNone/>
            </a:pPr>
            <a:r>
              <a:rPr lang="en-US" sz="1220" dirty="0">
                <a:solidFill>
                  <a:srgbClr val="28497A"/>
                </a:solidFill>
                <a:latin typeface="HSE Slab Regular"/>
                <a:ea typeface="Arial" pitchFamily="34" charset="-122"/>
                <a:cs typeface="Arial" pitchFamily="34" charset="-120"/>
              </a:rPr>
              <a:t>Testing and</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learning analytics</a:t>
            </a:r>
            <a:endParaRPr lang="en-US" sz="1220" dirty="0">
              <a:solidFill>
                <a:srgbClr val="28497A"/>
              </a:solidFill>
              <a:latin typeface="HSE Slab Regular"/>
            </a:endParaRPr>
          </a:p>
        </p:txBody>
      </p:sp>
      <p:sp>
        <p:nvSpPr>
          <p:cNvPr id="28" name="Shape 24"/>
          <p:cNvSpPr/>
          <p:nvPr/>
        </p:nvSpPr>
        <p:spPr>
          <a:xfrm>
            <a:off x="9601200" y="3108960"/>
            <a:ext cx="365760" cy="365760"/>
          </a:xfrm>
          <a:prstGeom prst="ellipse">
            <a:avLst/>
          </a:prstGeom>
          <a:solidFill>
            <a:srgbClr val="0F2E68"/>
          </a:solidFill>
          <a:ln w="12700">
            <a:solidFill>
              <a:srgbClr val="FFFFFF"/>
            </a:solidFill>
            <a:prstDash val="solid"/>
          </a:ln>
        </p:spPr>
      </p:sp>
      <p:sp>
        <p:nvSpPr>
          <p:cNvPr id="29" name="Text 25"/>
          <p:cNvSpPr/>
          <p:nvPr/>
        </p:nvSpPr>
        <p:spPr>
          <a:xfrm>
            <a:off x="9720072" y="3191256"/>
            <a:ext cx="128016" cy="128016"/>
          </a:xfrm>
          <a:prstGeom prst="rect">
            <a:avLst/>
          </a:prstGeom>
          <a:noFill/>
          <a:ln/>
        </p:spPr>
        <p:txBody>
          <a:bodyPr wrap="square" lIns="0" tIns="0" rIns="0" bIns="0" rtlCol="0" anchor="ctr">
            <a:noAutofit/>
          </a:bodyPr>
          <a:lstStyle/>
          <a:p>
            <a:pPr marL="0" indent="0" algn="ctr">
              <a:buNone/>
            </a:pPr>
            <a:r>
              <a:rPr lang="en-US" sz="950" b="1" dirty="0">
                <a:solidFill>
                  <a:srgbClr val="D6E4F5"/>
                </a:solidFill>
                <a:latin typeface="HSESans-SemiBold" pitchFamily="50" charset="-52"/>
                <a:ea typeface="Arial" pitchFamily="34" charset="-122"/>
                <a:cs typeface="Arial" pitchFamily="34" charset="-120"/>
              </a:rPr>
              <a:t>6</a:t>
            </a:r>
            <a:endParaRPr lang="en-US" sz="950" dirty="0">
              <a:solidFill>
                <a:srgbClr val="D6E4F5"/>
              </a:solidFill>
              <a:latin typeface="HSESans-SemiBold" pitchFamily="50" charset="-52"/>
            </a:endParaRPr>
          </a:p>
        </p:txBody>
      </p:sp>
      <p:sp>
        <p:nvSpPr>
          <p:cNvPr id="30" name="Text 26"/>
          <p:cNvSpPr/>
          <p:nvPr/>
        </p:nvSpPr>
        <p:spPr>
          <a:xfrm>
            <a:off x="9253728" y="3639312"/>
            <a:ext cx="1060704" cy="749808"/>
          </a:xfrm>
          <a:prstGeom prst="rect">
            <a:avLst/>
          </a:prstGeom>
          <a:noFill/>
          <a:ln/>
        </p:spPr>
        <p:txBody>
          <a:bodyPr wrap="square" lIns="0" tIns="0" rIns="0" bIns="0" rtlCol="0" anchor="ctr">
            <a:normAutofit/>
          </a:bodyPr>
          <a:lstStyle/>
          <a:p>
            <a:pPr marL="0" indent="0" algn="ctr">
              <a:buNone/>
            </a:pPr>
            <a:r>
              <a:rPr lang="en-US" sz="1220" dirty="0">
                <a:solidFill>
                  <a:srgbClr val="28497A"/>
                </a:solidFill>
                <a:latin typeface="HSE Slab Regular"/>
                <a:ea typeface="Arial" pitchFamily="34" charset="-122"/>
                <a:cs typeface="Arial" pitchFamily="34" charset="-120"/>
              </a:rPr>
              <a:t>Impact</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evaluation and</a:t>
            </a:r>
            <a:endParaRPr lang="en-US" sz="1220" dirty="0">
              <a:solidFill>
                <a:srgbClr val="28497A"/>
              </a:solidFill>
              <a:latin typeface="HSE Slab Regular"/>
            </a:endParaRPr>
          </a:p>
          <a:p>
            <a:pPr marL="0" indent="0" algn="ctr">
              <a:buNone/>
            </a:pPr>
            <a:r>
              <a:rPr lang="en-US" sz="1220" dirty="0">
                <a:solidFill>
                  <a:srgbClr val="28497A"/>
                </a:solidFill>
                <a:latin typeface="HSE Slab Regular"/>
                <a:ea typeface="Arial" pitchFamily="34" charset="-122"/>
                <a:cs typeface="Arial" pitchFamily="34" charset="-120"/>
              </a:rPr>
              <a:t>final reporting</a:t>
            </a:r>
            <a:endParaRPr lang="en-US" sz="1220" dirty="0">
              <a:solidFill>
                <a:srgbClr val="28497A"/>
              </a:solidFill>
              <a:latin typeface="HSE Slab Regular"/>
            </a:endParaRPr>
          </a:p>
        </p:txBody>
      </p:sp>
      <p:sp>
        <p:nvSpPr>
          <p:cNvPr id="31" name="Text 27"/>
          <p:cNvSpPr/>
          <p:nvPr/>
        </p:nvSpPr>
        <p:spPr>
          <a:xfrm>
            <a:off x="1143000" y="5349240"/>
            <a:ext cx="9875520" cy="320040"/>
          </a:xfrm>
          <a:prstGeom prst="rect">
            <a:avLst/>
          </a:prstGeom>
          <a:noFill/>
          <a:ln/>
        </p:spPr>
        <p:txBody>
          <a:bodyPr wrap="square" lIns="0" tIns="0" rIns="0" bIns="0" rtlCol="0" anchor="ctr">
            <a:normAutofit/>
          </a:bodyPr>
          <a:lstStyle/>
          <a:p>
            <a:r>
              <a:rPr sz="1460">
                <a:solidFill>
                  <a:srgbClr val="182B49"/>
                </a:solidFill>
                <a:latin typeface="HSE Sans Regular"/>
              </a:rPr>
              <a:t>At the current project stage, steps 1-4 are represented in the MVP. Steps 5-6 remain the next research and deployment stage.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7</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User Journey</a:t>
            </a:r>
            <a:endParaRPr lang="en-US" sz="2250" dirty="0">
              <a:solidFill>
                <a:srgbClr val="182B49"/>
              </a:solidFill>
              <a:latin typeface="HSE Slab Black" panose="02000000000000000000" pitchFamily="50" charset="0"/>
            </a:endParaRPr>
          </a:p>
        </p:txBody>
      </p:sp>
      <p:sp>
        <p:nvSpPr>
          <p:cNvPr id="12" name="Shape 8"/>
          <p:cNvSpPr/>
          <p:nvPr/>
        </p:nvSpPr>
        <p:spPr>
          <a:xfrm>
            <a:off x="777240" y="2286000"/>
            <a:ext cx="1783080" cy="1965960"/>
          </a:xfrm>
          <a:prstGeom prst="roundRect">
            <a:avLst>
              <a:gd name="adj" fmla="val 4103"/>
            </a:avLst>
          </a:prstGeom>
          <a:solidFill>
            <a:srgbClr val="0F2E68"/>
          </a:solidFill>
          <a:ln w="12700">
            <a:solidFill>
              <a:srgbClr val="0F2E68"/>
            </a:solidFill>
            <a:prstDash val="solid"/>
          </a:ln>
        </p:spPr>
      </p:sp>
      <p:sp>
        <p:nvSpPr>
          <p:cNvPr id="13" name="Text 9"/>
          <p:cNvSpPr/>
          <p:nvPr/>
        </p:nvSpPr>
        <p:spPr>
          <a:xfrm>
            <a:off x="886968" y="2395728"/>
            <a:ext cx="156362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1. Case selection</a:t>
            </a:r>
            <a:endParaRPr lang="en-US" sz="1320" dirty="0">
              <a:solidFill>
                <a:srgbClr val="D6E4F5"/>
              </a:solidFill>
              <a:latin typeface="HSE Slab Regular"/>
            </a:endParaRPr>
          </a:p>
        </p:txBody>
      </p:sp>
      <p:sp>
        <p:nvSpPr>
          <p:cNvPr id="14" name="Text 10"/>
          <p:cNvSpPr/>
          <p:nvPr/>
        </p:nvSpPr>
        <p:spPr>
          <a:xfrm>
            <a:off x="886968" y="2688336"/>
            <a:ext cx="1563624" cy="1490472"/>
          </a:xfrm>
          <a:prstGeom prst="rect">
            <a:avLst/>
          </a:prstGeom>
          <a:noFill/>
          <a:ln/>
        </p:spPr>
        <p:txBody>
          <a:bodyPr wrap="square" lIns="0" tIns="0" rIns="0" bIns="0" rtlCol="0" anchor="ctr">
            <a:normAutofit/>
          </a:bodyPr>
          <a:lstStyle/>
          <a:p>
            <a:r>
              <a:rPr sz="1520">
                <a:solidFill>
                  <a:srgbClr val="F8FAFC"/>
                </a:solidFill>
                <a:latin typeface="HSE Sans Regular"/>
              </a:rPr>
              <a:t>The teenager selects a situation and one of the LawVoice personas.</a:t>
            </a:r>
          </a:p>
        </p:txBody>
      </p:sp>
      <p:sp>
        <p:nvSpPr>
          <p:cNvPr id="15" name="Shape 11"/>
          <p:cNvSpPr/>
          <p:nvPr/>
        </p:nvSpPr>
        <p:spPr>
          <a:xfrm>
            <a:off x="2788920" y="2286000"/>
            <a:ext cx="1783080" cy="1965960"/>
          </a:xfrm>
          <a:prstGeom prst="roundRect">
            <a:avLst>
              <a:gd name="adj" fmla="val 4103"/>
            </a:avLst>
          </a:prstGeom>
          <a:solidFill>
            <a:srgbClr val="0F2E68"/>
          </a:solidFill>
          <a:ln w="12700">
            <a:solidFill>
              <a:srgbClr val="0F2E68"/>
            </a:solidFill>
            <a:prstDash val="solid"/>
          </a:ln>
        </p:spPr>
      </p:sp>
      <p:sp>
        <p:nvSpPr>
          <p:cNvPr id="16" name="Text 12"/>
          <p:cNvSpPr/>
          <p:nvPr/>
        </p:nvSpPr>
        <p:spPr>
          <a:xfrm>
            <a:off x="2898648" y="2395728"/>
            <a:ext cx="156362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2. Fact clarification</a:t>
            </a:r>
            <a:endParaRPr lang="en-US" sz="1320" dirty="0">
              <a:solidFill>
                <a:srgbClr val="D6E4F5"/>
              </a:solidFill>
              <a:latin typeface="HSE Slab Regular"/>
            </a:endParaRPr>
          </a:p>
        </p:txBody>
      </p:sp>
      <p:sp>
        <p:nvSpPr>
          <p:cNvPr id="17" name="Text 13"/>
          <p:cNvSpPr/>
          <p:nvPr/>
        </p:nvSpPr>
        <p:spPr>
          <a:xfrm>
            <a:off x="2898648" y="2688336"/>
            <a:ext cx="1563624" cy="1490472"/>
          </a:xfrm>
          <a:prstGeom prst="rect">
            <a:avLst/>
          </a:prstGeom>
          <a:noFill/>
          <a:ln/>
        </p:spPr>
        <p:txBody>
          <a:bodyPr wrap="square" lIns="0" tIns="0" rIns="0" bIns="0" rtlCol="0" anchor="ctr">
            <a:normAutofit/>
          </a:bodyPr>
          <a:lstStyle/>
          <a:p>
            <a:r>
              <a:rPr sz="1460">
                <a:solidFill>
                  <a:srgbClr val="F8FAFC"/>
                </a:solidFill>
                <a:latin typeface="HSE Sans Regular"/>
              </a:rPr>
              <a:t>The assistant asks short clarifying questions without requesting unnecessary personal data.</a:t>
            </a:r>
          </a:p>
        </p:txBody>
      </p:sp>
      <p:sp>
        <p:nvSpPr>
          <p:cNvPr id="18" name="Shape 14"/>
          <p:cNvSpPr/>
          <p:nvPr/>
        </p:nvSpPr>
        <p:spPr>
          <a:xfrm>
            <a:off x="4800600" y="2286000"/>
            <a:ext cx="1783080" cy="1965960"/>
          </a:xfrm>
          <a:prstGeom prst="roundRect">
            <a:avLst>
              <a:gd name="adj" fmla="val 4103"/>
            </a:avLst>
          </a:prstGeom>
          <a:solidFill>
            <a:srgbClr val="0F2E68"/>
          </a:solidFill>
          <a:ln w="12700">
            <a:solidFill>
              <a:srgbClr val="0F2E68"/>
            </a:solidFill>
            <a:prstDash val="solid"/>
          </a:ln>
        </p:spPr>
      </p:sp>
      <p:sp>
        <p:nvSpPr>
          <p:cNvPr id="19" name="Text 15"/>
          <p:cNvSpPr/>
          <p:nvPr/>
        </p:nvSpPr>
        <p:spPr>
          <a:xfrm>
            <a:off x="4910328" y="2395728"/>
            <a:ext cx="15636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3. Analysis</a:t>
            </a:r>
            <a:endParaRPr lang="en-US" sz="1400" dirty="0">
              <a:solidFill>
                <a:srgbClr val="D6E4F5"/>
              </a:solidFill>
              <a:latin typeface="HSE Slab Regular"/>
            </a:endParaRPr>
          </a:p>
        </p:txBody>
      </p:sp>
      <p:sp>
        <p:nvSpPr>
          <p:cNvPr id="20" name="Text 16"/>
          <p:cNvSpPr/>
          <p:nvPr/>
        </p:nvSpPr>
        <p:spPr>
          <a:xfrm>
            <a:off x="4910328" y="2688336"/>
            <a:ext cx="1563624" cy="1490472"/>
          </a:xfrm>
          <a:prstGeom prst="rect">
            <a:avLst/>
          </a:prstGeom>
          <a:noFill/>
          <a:ln/>
        </p:spPr>
        <p:txBody>
          <a:bodyPr wrap="square" lIns="0" tIns="0" rIns="0" bIns="0" rtlCol="0" anchor="ctr">
            <a:normAutofit/>
          </a:bodyPr>
          <a:lstStyle/>
          <a:p>
            <a:r>
              <a:rPr sz="1520">
                <a:solidFill>
                  <a:srgbClr val="F8FAFC"/>
                </a:solidFill>
                <a:latin typeface="HSE Sans Regular"/>
              </a:rPr>
              <a:t>LawVoice explains rights, obligations, and risks in plain language.</a:t>
            </a:r>
          </a:p>
        </p:txBody>
      </p:sp>
      <p:sp>
        <p:nvSpPr>
          <p:cNvPr id="21" name="Shape 17"/>
          <p:cNvSpPr/>
          <p:nvPr/>
        </p:nvSpPr>
        <p:spPr>
          <a:xfrm>
            <a:off x="6812280" y="2286000"/>
            <a:ext cx="1783080" cy="1965960"/>
          </a:xfrm>
          <a:prstGeom prst="roundRect">
            <a:avLst>
              <a:gd name="adj" fmla="val 4103"/>
            </a:avLst>
          </a:prstGeom>
          <a:solidFill>
            <a:srgbClr val="0F2E68"/>
          </a:solidFill>
          <a:ln w="12700">
            <a:solidFill>
              <a:srgbClr val="0F2E68"/>
            </a:solidFill>
            <a:prstDash val="solid"/>
          </a:ln>
        </p:spPr>
      </p:sp>
      <p:sp>
        <p:nvSpPr>
          <p:cNvPr id="22" name="Text 18"/>
          <p:cNvSpPr/>
          <p:nvPr/>
        </p:nvSpPr>
        <p:spPr>
          <a:xfrm>
            <a:off x="6922008" y="2395728"/>
            <a:ext cx="156362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4. Action options</a:t>
            </a:r>
            <a:endParaRPr lang="en-US" sz="1320" dirty="0">
              <a:solidFill>
                <a:srgbClr val="D6E4F5"/>
              </a:solidFill>
              <a:latin typeface="HSE Slab Regular"/>
            </a:endParaRPr>
          </a:p>
        </p:txBody>
      </p:sp>
      <p:sp>
        <p:nvSpPr>
          <p:cNvPr id="23" name="Text 19"/>
          <p:cNvSpPr/>
          <p:nvPr/>
        </p:nvSpPr>
        <p:spPr>
          <a:xfrm>
            <a:off x="6922008" y="2688336"/>
            <a:ext cx="1563624" cy="1490472"/>
          </a:xfrm>
          <a:prstGeom prst="rect">
            <a:avLst/>
          </a:prstGeom>
          <a:noFill/>
          <a:ln/>
        </p:spPr>
        <p:txBody>
          <a:bodyPr wrap="square" lIns="0" tIns="0" rIns="0" bIns="0" rtlCol="0" anchor="ctr">
            <a:normAutofit/>
          </a:bodyPr>
          <a:lstStyle/>
          <a:p>
            <a:r>
              <a:rPr sz="1520">
                <a:solidFill>
                  <a:srgbClr val="F8FAFC"/>
                </a:solidFill>
                <a:latin typeface="HSE Sans Regular"/>
              </a:rPr>
              <a:t>The user receives 2-3 possible legal and safe next steps.</a:t>
            </a:r>
          </a:p>
        </p:txBody>
      </p:sp>
      <p:sp>
        <p:nvSpPr>
          <p:cNvPr id="24" name="Shape 20"/>
          <p:cNvSpPr/>
          <p:nvPr/>
        </p:nvSpPr>
        <p:spPr>
          <a:xfrm>
            <a:off x="8823960" y="2286000"/>
            <a:ext cx="1783080" cy="1965960"/>
          </a:xfrm>
          <a:prstGeom prst="roundRect">
            <a:avLst>
              <a:gd name="adj" fmla="val 4103"/>
            </a:avLst>
          </a:prstGeom>
          <a:solidFill>
            <a:srgbClr val="0F2E68"/>
          </a:solidFill>
          <a:ln w="12700">
            <a:solidFill>
              <a:srgbClr val="0F2E68"/>
            </a:solidFill>
            <a:prstDash val="solid"/>
          </a:ln>
        </p:spPr>
      </p:sp>
      <p:sp>
        <p:nvSpPr>
          <p:cNvPr id="25" name="Text 21"/>
          <p:cNvSpPr/>
          <p:nvPr/>
        </p:nvSpPr>
        <p:spPr>
          <a:xfrm>
            <a:off x="8933688" y="2395728"/>
            <a:ext cx="15636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5. Next step</a:t>
            </a:r>
            <a:endParaRPr lang="en-US" sz="1400" dirty="0">
              <a:solidFill>
                <a:srgbClr val="D6E4F5"/>
              </a:solidFill>
              <a:latin typeface="HSE Slab Regular"/>
            </a:endParaRPr>
          </a:p>
        </p:txBody>
      </p:sp>
      <p:sp>
        <p:nvSpPr>
          <p:cNvPr id="26" name="Text 22"/>
          <p:cNvSpPr/>
          <p:nvPr/>
        </p:nvSpPr>
        <p:spPr>
          <a:xfrm>
            <a:off x="8933688" y="2688336"/>
            <a:ext cx="1563624" cy="1490472"/>
          </a:xfrm>
          <a:prstGeom prst="rect">
            <a:avLst/>
          </a:prstGeom>
          <a:noFill/>
          <a:ln/>
        </p:spPr>
        <p:txBody>
          <a:bodyPr wrap="square" lIns="0" tIns="0" rIns="0" bIns="0" rtlCol="0" anchor="ctr">
            <a:normAutofit/>
          </a:bodyPr>
          <a:lstStyle/>
          <a:p>
            <a:r>
              <a:rPr sz="1520">
                <a:solidFill>
                  <a:srgbClr val="F8FAFC"/>
                </a:solidFill>
                <a:latin typeface="HSE Sans Regular"/>
              </a:rPr>
              <a:t>The dialogue ends with a recommended action and a short 24-hour checklist.</a:t>
            </a:r>
          </a:p>
        </p:txBody>
      </p:sp>
      <p:sp>
        <p:nvSpPr>
          <p:cNvPr id="27" name="Text 23"/>
          <p:cNvSpPr/>
          <p:nvPr/>
        </p:nvSpPr>
        <p:spPr>
          <a:xfrm>
            <a:off x="1097280" y="4846320"/>
            <a:ext cx="9921240" cy="329184"/>
          </a:xfrm>
          <a:prstGeom prst="rect">
            <a:avLst/>
          </a:prstGeom>
          <a:noFill/>
          <a:ln/>
        </p:spPr>
        <p:txBody>
          <a:bodyPr wrap="square" lIns="0" tIns="0" rIns="0" bIns="0" rtlCol="0" anchor="ctr">
            <a:normAutofit/>
          </a:bodyPr>
          <a:lstStyle/>
          <a:p>
            <a:r>
              <a:rPr sz="1460">
                <a:solidFill>
                  <a:srgbClr val="182B49"/>
                </a:solidFill>
                <a:latin typeface="HSE Sans Regular"/>
              </a:rPr>
              <a:t>Educational outcome: the user practices structured reasoning instead of waiting for a ready-made verdict.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8</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Current MVP Functionality</a:t>
            </a:r>
            <a:endParaRPr lang="en-US" sz="2250" dirty="0">
              <a:solidFill>
                <a:srgbClr val="182B49"/>
              </a:solidFill>
              <a:latin typeface="HSE Slab Black" panose="02000000000000000000" pitchFamily="50" charset="0"/>
            </a:endParaRPr>
          </a:p>
        </p:txBody>
      </p:sp>
      <p:sp>
        <p:nvSpPr>
          <p:cNvPr id="12" name="Shape 8"/>
          <p:cNvSpPr/>
          <p:nvPr/>
        </p:nvSpPr>
        <p:spPr>
          <a:xfrm>
            <a:off x="749808" y="1920240"/>
            <a:ext cx="1797766" cy="1596044"/>
          </a:xfrm>
          <a:prstGeom prst="roundRect">
            <a:avLst>
              <a:gd name="adj" fmla="val 5161"/>
            </a:avLst>
          </a:prstGeom>
          <a:solidFill>
            <a:srgbClr val="0F2E68"/>
          </a:solidFill>
          <a:ln w="12700">
            <a:solidFill>
              <a:srgbClr val="0F2E68"/>
            </a:solidFill>
            <a:prstDash val="solid"/>
          </a:ln>
        </p:spPr>
      </p:sp>
      <p:sp>
        <p:nvSpPr>
          <p:cNvPr id="13" name="Text 9"/>
          <p:cNvSpPr/>
          <p:nvPr/>
        </p:nvSpPr>
        <p:spPr>
          <a:xfrm>
            <a:off x="859536" y="2029968"/>
            <a:ext cx="1517904" cy="256032"/>
          </a:xfrm>
          <a:prstGeom prst="rect">
            <a:avLst/>
          </a:prstGeom>
          <a:noFill/>
          <a:ln/>
        </p:spPr>
        <p:txBody>
          <a:bodyPr wrap="square" lIns="0" tIns="0" rIns="0" bIns="0" rtlCol="0" anchor="ctr">
            <a:normAutofit/>
          </a:bodyPr>
          <a:lstStyle/>
          <a:p>
            <a:r>
              <a:rPr sz="1320">
                <a:solidFill>
                  <a:srgbClr val="D6E4F5"/>
                </a:solidFill>
                <a:latin typeface="HSE Slab Regular"/>
              </a:rPr>
              <a:t>Persona profiles</a:t>
            </a:r>
          </a:p>
        </p:txBody>
      </p:sp>
      <p:sp>
        <p:nvSpPr>
          <p:cNvPr id="14" name="Text 10"/>
          <p:cNvSpPr/>
          <p:nvPr/>
        </p:nvSpPr>
        <p:spPr>
          <a:xfrm>
            <a:off x="859536" y="2322576"/>
            <a:ext cx="1737360" cy="941832"/>
          </a:xfrm>
          <a:prstGeom prst="rect">
            <a:avLst/>
          </a:prstGeom>
          <a:noFill/>
          <a:ln/>
        </p:spPr>
        <p:txBody>
          <a:bodyPr wrap="square" lIns="0" tIns="0" rIns="0" bIns="0" rtlCol="0" anchor="ctr">
            <a:noAutofit/>
          </a:bodyPr>
          <a:lstStyle/>
          <a:p>
            <a:r>
              <a:rPr sz="1520">
                <a:solidFill>
                  <a:srgbClr val="F8FAFC"/>
                </a:solidFill>
                <a:latin typeface="HSE Sans Regular"/>
              </a:rPr>
              <a:t>Mentor, peer, analyst, and safety personas with voice and style settings.</a:t>
            </a:r>
          </a:p>
        </p:txBody>
      </p:sp>
      <p:sp>
        <p:nvSpPr>
          <p:cNvPr id="15" name="Shape 11"/>
          <p:cNvSpPr/>
          <p:nvPr/>
        </p:nvSpPr>
        <p:spPr>
          <a:xfrm>
            <a:off x="2770632" y="1920240"/>
            <a:ext cx="1737360" cy="1596044"/>
          </a:xfrm>
          <a:prstGeom prst="roundRect">
            <a:avLst>
              <a:gd name="adj" fmla="val 5161"/>
            </a:avLst>
          </a:prstGeom>
          <a:solidFill>
            <a:srgbClr val="0F2E68"/>
          </a:solidFill>
          <a:ln w="12700">
            <a:solidFill>
              <a:srgbClr val="0F2E68"/>
            </a:solidFill>
            <a:prstDash val="solid"/>
          </a:ln>
        </p:spPr>
      </p:sp>
      <p:sp>
        <p:nvSpPr>
          <p:cNvPr id="16" name="Text 12"/>
          <p:cNvSpPr/>
          <p:nvPr/>
        </p:nvSpPr>
        <p:spPr>
          <a:xfrm>
            <a:off x="2880360" y="2029968"/>
            <a:ext cx="1517904" cy="256032"/>
          </a:xfrm>
          <a:prstGeom prst="rect">
            <a:avLst/>
          </a:prstGeom>
          <a:noFill/>
          <a:ln/>
        </p:spPr>
        <p:txBody>
          <a:bodyPr wrap="square" lIns="0" tIns="0" rIns="0" bIns="0" rtlCol="0" anchor="ctr">
            <a:normAutofit/>
          </a:bodyPr>
          <a:lstStyle/>
          <a:p>
            <a:r>
              <a:rPr sz="1320">
                <a:solidFill>
                  <a:srgbClr val="D6E4F5"/>
                </a:solidFill>
                <a:latin typeface="HSE Slab Regular"/>
              </a:rPr>
              <a:t>Adaptive mode</a:t>
            </a:r>
          </a:p>
        </p:txBody>
      </p:sp>
      <p:sp>
        <p:nvSpPr>
          <p:cNvPr id="17" name="Text 13"/>
          <p:cNvSpPr/>
          <p:nvPr/>
        </p:nvSpPr>
        <p:spPr>
          <a:xfrm>
            <a:off x="2880360" y="2443942"/>
            <a:ext cx="1517904" cy="941832"/>
          </a:xfrm>
          <a:prstGeom prst="rect">
            <a:avLst/>
          </a:prstGeom>
          <a:noFill/>
          <a:ln/>
        </p:spPr>
        <p:txBody>
          <a:bodyPr wrap="square" lIns="0" tIns="0" rIns="0" bIns="0" rtlCol="0" anchor="ctr">
            <a:noAutofit/>
          </a:bodyPr>
          <a:lstStyle/>
          <a:p>
            <a:r>
              <a:rPr sz="1520">
                <a:solidFill>
                  <a:srgbClr val="F8FAFC"/>
                </a:solidFill>
                <a:latin typeface="HSE Sans Regular"/>
              </a:rPr>
              <a:t>Teen and 18+ modes with runtime adjustment for risk and anxiety.</a:t>
            </a:r>
          </a:p>
        </p:txBody>
      </p:sp>
      <p:sp>
        <p:nvSpPr>
          <p:cNvPr id="18" name="Shape 14"/>
          <p:cNvSpPr/>
          <p:nvPr/>
        </p:nvSpPr>
        <p:spPr>
          <a:xfrm>
            <a:off x="4791456" y="1920240"/>
            <a:ext cx="1737360" cy="1596044"/>
          </a:xfrm>
          <a:prstGeom prst="roundRect">
            <a:avLst>
              <a:gd name="adj" fmla="val 5161"/>
            </a:avLst>
          </a:prstGeom>
          <a:solidFill>
            <a:srgbClr val="0F2E68"/>
          </a:solidFill>
          <a:ln w="12700">
            <a:solidFill>
              <a:srgbClr val="0F2E68"/>
            </a:solidFill>
            <a:prstDash val="solid"/>
          </a:ln>
        </p:spPr>
      </p:sp>
      <p:sp>
        <p:nvSpPr>
          <p:cNvPr id="19" name="Text 15"/>
          <p:cNvSpPr/>
          <p:nvPr/>
        </p:nvSpPr>
        <p:spPr>
          <a:xfrm>
            <a:off x="4901184" y="1993392"/>
            <a:ext cx="1517904" cy="256032"/>
          </a:xfrm>
          <a:prstGeom prst="rect">
            <a:avLst/>
          </a:prstGeom>
          <a:noFill/>
          <a:ln/>
        </p:spPr>
        <p:txBody>
          <a:bodyPr wrap="square" lIns="0" tIns="0" rIns="0" bIns="0" rtlCol="0" anchor="ctr">
            <a:normAutofit/>
          </a:bodyPr>
          <a:lstStyle/>
          <a:p>
            <a:pPr indent="0">
              <a:buNone/>
            </a:pPr>
            <a:r>
              <a:rPr lang="en-US" sz="1320">
                <a:solidFill>
                  <a:srgbClr val="D6E4F5"/>
                </a:solidFill>
                <a:latin typeface="HSE Slab Regular"/>
              </a:rPr>
              <a:t>Base prompt</a:t>
            </a:r>
            <a:endParaRPr lang="en-US" sz="1320" dirty="0">
              <a:solidFill>
                <a:srgbClr val="D6E4F5"/>
              </a:solidFill>
              <a:latin typeface="HSE Slab Regular"/>
            </a:endParaRPr>
          </a:p>
        </p:txBody>
      </p:sp>
      <p:sp>
        <p:nvSpPr>
          <p:cNvPr id="20" name="Text 16"/>
          <p:cNvSpPr/>
          <p:nvPr/>
        </p:nvSpPr>
        <p:spPr>
          <a:xfrm>
            <a:off x="4901184" y="2322576"/>
            <a:ext cx="1517904" cy="941832"/>
          </a:xfrm>
          <a:prstGeom prst="rect">
            <a:avLst/>
          </a:prstGeom>
          <a:noFill/>
          <a:ln/>
        </p:spPr>
        <p:txBody>
          <a:bodyPr wrap="square" lIns="0" tIns="0" rIns="0" bIns="0" rtlCol="0" anchor="ctr">
            <a:normAutofit/>
          </a:bodyPr>
          <a:lstStyle/>
          <a:p>
            <a:r>
              <a:rPr sz="1520">
                <a:solidFill>
                  <a:srgbClr val="F8FAFC"/>
                </a:solidFill>
                <a:latin typeface="HSE Sans Regular"/>
              </a:rPr>
              <a:t>LawVoice system prompt and dialogue rules at session start.</a:t>
            </a:r>
          </a:p>
        </p:txBody>
      </p:sp>
      <p:sp>
        <p:nvSpPr>
          <p:cNvPr id="21" name="Shape 17"/>
          <p:cNvSpPr/>
          <p:nvPr/>
        </p:nvSpPr>
        <p:spPr>
          <a:xfrm>
            <a:off x="6812280" y="1920240"/>
            <a:ext cx="2722418" cy="1596044"/>
          </a:xfrm>
          <a:prstGeom prst="roundRect">
            <a:avLst>
              <a:gd name="adj" fmla="val 5161"/>
            </a:avLst>
          </a:prstGeom>
          <a:solidFill>
            <a:srgbClr val="0F2E68"/>
          </a:solidFill>
          <a:ln w="12700">
            <a:solidFill>
              <a:srgbClr val="0F2E68"/>
            </a:solidFill>
            <a:prstDash val="solid"/>
          </a:ln>
        </p:spPr>
      </p:sp>
      <p:sp>
        <p:nvSpPr>
          <p:cNvPr id="22" name="Text 18"/>
          <p:cNvSpPr/>
          <p:nvPr/>
        </p:nvSpPr>
        <p:spPr>
          <a:xfrm>
            <a:off x="6922008" y="2029968"/>
            <a:ext cx="1517904" cy="256032"/>
          </a:xfrm>
          <a:prstGeom prst="rect">
            <a:avLst/>
          </a:prstGeom>
          <a:noFill/>
          <a:ln/>
        </p:spPr>
        <p:txBody>
          <a:bodyPr wrap="square" lIns="0" tIns="0" rIns="0" bIns="0" rtlCol="0" anchor="ctr">
            <a:noAutofit/>
          </a:bodyPr>
          <a:lstStyle/>
          <a:p>
            <a:r>
              <a:rPr sz="1320">
                <a:solidFill>
                  <a:srgbClr val="D6E4F5"/>
                </a:solidFill>
                <a:latin typeface="HSE Slab Regular"/>
              </a:rPr>
              <a:t>Scenario and materials</a:t>
            </a:r>
          </a:p>
        </p:txBody>
      </p:sp>
      <p:sp>
        <p:nvSpPr>
          <p:cNvPr id="23" name="Text 19"/>
          <p:cNvSpPr/>
          <p:nvPr/>
        </p:nvSpPr>
        <p:spPr>
          <a:xfrm>
            <a:off x="6922008" y="2322576"/>
            <a:ext cx="2389632" cy="941832"/>
          </a:xfrm>
          <a:prstGeom prst="rect">
            <a:avLst/>
          </a:prstGeom>
          <a:noFill/>
          <a:ln/>
        </p:spPr>
        <p:txBody>
          <a:bodyPr wrap="square" lIns="0" tIns="0" rIns="0" bIns="0" rtlCol="0" anchor="ctr">
            <a:noAutofit/>
          </a:bodyPr>
          <a:lstStyle/>
          <a:p>
            <a:r>
              <a:rPr sz="1520">
                <a:solidFill>
                  <a:srgbClr val="F8FAFC"/>
                </a:solidFill>
                <a:latin typeface="HSE Sans Regular"/>
              </a:rPr>
              <a:t>Scenario hints, supporting materials, and prepared context for the conversation.</a:t>
            </a:r>
          </a:p>
        </p:txBody>
      </p:sp>
      <p:sp>
        <p:nvSpPr>
          <p:cNvPr id="24" name="Shape 20"/>
          <p:cNvSpPr/>
          <p:nvPr/>
        </p:nvSpPr>
        <p:spPr>
          <a:xfrm>
            <a:off x="749808" y="3794760"/>
            <a:ext cx="1797766" cy="1417320"/>
          </a:xfrm>
          <a:prstGeom prst="roundRect">
            <a:avLst>
              <a:gd name="adj" fmla="val 5161"/>
            </a:avLst>
          </a:prstGeom>
          <a:solidFill>
            <a:srgbClr val="0F2E68"/>
          </a:solidFill>
          <a:ln w="12700">
            <a:solidFill>
              <a:srgbClr val="0F2E68"/>
            </a:solidFill>
            <a:prstDash val="solid"/>
          </a:ln>
        </p:spPr>
      </p:sp>
      <p:sp>
        <p:nvSpPr>
          <p:cNvPr id="25" name="Text 21"/>
          <p:cNvSpPr/>
          <p:nvPr/>
        </p:nvSpPr>
        <p:spPr>
          <a:xfrm>
            <a:off x="859536" y="3904488"/>
            <a:ext cx="151790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Knowledge base</a:t>
            </a:r>
            <a:endParaRPr lang="en-US" sz="1320" dirty="0">
              <a:solidFill>
                <a:srgbClr val="D6E4F5"/>
              </a:solidFill>
              <a:latin typeface="HSE Slab Regular"/>
            </a:endParaRPr>
          </a:p>
        </p:txBody>
      </p:sp>
      <p:sp>
        <p:nvSpPr>
          <p:cNvPr id="26" name="Text 22"/>
          <p:cNvSpPr/>
          <p:nvPr/>
        </p:nvSpPr>
        <p:spPr>
          <a:xfrm>
            <a:off x="859536" y="4197096"/>
            <a:ext cx="1517904" cy="941832"/>
          </a:xfrm>
          <a:prstGeom prst="rect">
            <a:avLst/>
          </a:prstGeom>
          <a:noFill/>
          <a:ln/>
        </p:spPr>
        <p:txBody>
          <a:bodyPr wrap="square" lIns="0" tIns="0" rIns="0" bIns="0" rtlCol="0" anchor="ctr">
            <a:normAutofit/>
          </a:bodyPr>
          <a:lstStyle/>
          <a:p>
            <a:r>
              <a:rPr sz="1520">
                <a:solidFill>
                  <a:srgbClr val="F8FAFC"/>
                </a:solidFill>
                <a:latin typeface="HSE Sans Regular"/>
              </a:rPr>
              <a:t>Document upload, chunking, search, and token estimates.</a:t>
            </a:r>
          </a:p>
        </p:txBody>
      </p:sp>
      <p:sp>
        <p:nvSpPr>
          <p:cNvPr id="27" name="Shape 23"/>
          <p:cNvSpPr/>
          <p:nvPr/>
        </p:nvSpPr>
        <p:spPr>
          <a:xfrm>
            <a:off x="2770632" y="3794760"/>
            <a:ext cx="1737360" cy="1417320"/>
          </a:xfrm>
          <a:prstGeom prst="roundRect">
            <a:avLst>
              <a:gd name="adj" fmla="val 5161"/>
            </a:avLst>
          </a:prstGeom>
          <a:solidFill>
            <a:srgbClr val="0F2E68"/>
          </a:solidFill>
          <a:ln w="12700">
            <a:solidFill>
              <a:srgbClr val="0F2E68"/>
            </a:solidFill>
            <a:prstDash val="solid"/>
          </a:ln>
        </p:spPr>
      </p:sp>
      <p:sp>
        <p:nvSpPr>
          <p:cNvPr id="28" name="Text 24"/>
          <p:cNvSpPr/>
          <p:nvPr/>
        </p:nvSpPr>
        <p:spPr>
          <a:xfrm>
            <a:off x="2880360" y="3904488"/>
            <a:ext cx="151790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Voice dialogue</a:t>
            </a:r>
            <a:endParaRPr lang="en-US" sz="1320" dirty="0">
              <a:solidFill>
                <a:srgbClr val="D6E4F5"/>
              </a:solidFill>
              <a:latin typeface="HSE Slab Regular"/>
            </a:endParaRPr>
          </a:p>
        </p:txBody>
      </p:sp>
      <p:sp>
        <p:nvSpPr>
          <p:cNvPr id="29" name="Text 25"/>
          <p:cNvSpPr/>
          <p:nvPr/>
        </p:nvSpPr>
        <p:spPr>
          <a:xfrm>
            <a:off x="2880360" y="4197096"/>
            <a:ext cx="1911096" cy="941832"/>
          </a:xfrm>
          <a:prstGeom prst="rect">
            <a:avLst/>
          </a:prstGeom>
          <a:noFill/>
          <a:ln/>
        </p:spPr>
        <p:txBody>
          <a:bodyPr wrap="square" lIns="0" tIns="0" rIns="0" bIns="0" rtlCol="0" anchor="ctr">
            <a:noAutofit/>
          </a:bodyPr>
          <a:lstStyle/>
          <a:p>
            <a:r>
              <a:rPr sz="1520">
                <a:solidFill>
                  <a:srgbClr val="F8FAFC"/>
                </a:solidFill>
                <a:latin typeface="HSE Sans Regular"/>
              </a:rPr>
              <a:t>Realtime session, microphone, audio visualization, and context prompts.</a:t>
            </a:r>
          </a:p>
        </p:txBody>
      </p:sp>
      <p:sp>
        <p:nvSpPr>
          <p:cNvPr id="30" name="Shape 26"/>
          <p:cNvSpPr/>
          <p:nvPr/>
        </p:nvSpPr>
        <p:spPr>
          <a:xfrm>
            <a:off x="4791456" y="3794760"/>
            <a:ext cx="1737360" cy="1417320"/>
          </a:xfrm>
          <a:prstGeom prst="roundRect">
            <a:avLst>
              <a:gd name="adj" fmla="val 5161"/>
            </a:avLst>
          </a:prstGeom>
          <a:solidFill>
            <a:srgbClr val="0F2E68"/>
          </a:solidFill>
          <a:ln w="12700">
            <a:solidFill>
              <a:srgbClr val="0F2E68"/>
            </a:solidFill>
            <a:prstDash val="solid"/>
          </a:ln>
        </p:spPr>
      </p:sp>
      <p:sp>
        <p:nvSpPr>
          <p:cNvPr id="31" name="Text 27"/>
          <p:cNvSpPr/>
          <p:nvPr/>
        </p:nvSpPr>
        <p:spPr>
          <a:xfrm>
            <a:off x="4901184" y="3904488"/>
            <a:ext cx="1517904" cy="256032"/>
          </a:xfrm>
          <a:prstGeom prst="rect">
            <a:avLst/>
          </a:prstGeom>
          <a:noFill/>
          <a:ln/>
        </p:spPr>
        <p:txBody>
          <a:bodyPr wrap="square" lIns="0" tIns="0" rIns="0" bIns="0" rtlCol="0" anchor="ctr">
            <a:normAutofit/>
          </a:bodyPr>
          <a:lstStyle/>
          <a:p>
            <a:pPr indent="0">
              <a:buNone/>
            </a:pPr>
            <a:r>
              <a:rPr lang="en-US" sz="1320">
                <a:solidFill>
                  <a:srgbClr val="D6E4F5"/>
                </a:solidFill>
                <a:latin typeface="HSE Slab Regular"/>
              </a:rPr>
              <a:t>Action plan</a:t>
            </a:r>
            <a:endParaRPr lang="en-US" sz="1320" dirty="0">
              <a:solidFill>
                <a:srgbClr val="D6E4F5"/>
              </a:solidFill>
              <a:latin typeface="HSE Slab Regular"/>
            </a:endParaRPr>
          </a:p>
        </p:txBody>
      </p:sp>
      <p:sp>
        <p:nvSpPr>
          <p:cNvPr id="32" name="Text 28"/>
          <p:cNvSpPr/>
          <p:nvPr/>
        </p:nvSpPr>
        <p:spPr>
          <a:xfrm>
            <a:off x="4901184" y="4197096"/>
            <a:ext cx="1627632" cy="941832"/>
          </a:xfrm>
          <a:prstGeom prst="rect">
            <a:avLst/>
          </a:prstGeom>
          <a:noFill/>
          <a:ln/>
        </p:spPr>
        <p:txBody>
          <a:bodyPr wrap="square" lIns="0" tIns="0" rIns="0" bIns="0" rtlCol="0" anchor="ctr">
            <a:normAutofit/>
          </a:bodyPr>
          <a:lstStyle/>
          <a:p>
            <a:r>
              <a:rPr sz="1520">
                <a:solidFill>
                  <a:srgbClr val="F8FAFC"/>
                </a:solidFill>
                <a:latin typeface="HSE Sans Regular"/>
              </a:rPr>
              <a:t>Grounded draft plan with steps, priorities, and comments.</a:t>
            </a:r>
          </a:p>
        </p:txBody>
      </p:sp>
      <p:sp>
        <p:nvSpPr>
          <p:cNvPr id="33" name="Shape 29"/>
          <p:cNvSpPr/>
          <p:nvPr/>
        </p:nvSpPr>
        <p:spPr>
          <a:xfrm>
            <a:off x="6812280" y="3794760"/>
            <a:ext cx="2722418" cy="1417320"/>
          </a:xfrm>
          <a:prstGeom prst="roundRect">
            <a:avLst>
              <a:gd name="adj" fmla="val 5161"/>
            </a:avLst>
          </a:prstGeom>
          <a:solidFill>
            <a:srgbClr val="0F2E68"/>
          </a:solidFill>
          <a:ln w="12700">
            <a:solidFill>
              <a:srgbClr val="0F2E68"/>
            </a:solidFill>
            <a:prstDash val="solid"/>
          </a:ln>
        </p:spPr>
      </p:sp>
      <p:sp>
        <p:nvSpPr>
          <p:cNvPr id="34" name="Text 30"/>
          <p:cNvSpPr/>
          <p:nvPr/>
        </p:nvSpPr>
        <p:spPr>
          <a:xfrm>
            <a:off x="6922008" y="3904488"/>
            <a:ext cx="1517904" cy="256032"/>
          </a:xfrm>
          <a:prstGeom prst="rect">
            <a:avLst/>
          </a:prstGeom>
          <a:noFill/>
          <a:ln/>
        </p:spPr>
        <p:txBody>
          <a:bodyPr wrap="square" lIns="0" tIns="0" rIns="0" bIns="0" rtlCol="0" anchor="ctr">
            <a:noAutofit/>
          </a:bodyPr>
          <a:lstStyle/>
          <a:p>
            <a:pPr marL="0" indent="0">
              <a:buNone/>
            </a:pPr>
            <a:r>
              <a:rPr lang="en-US" sz="1220" b="1" dirty="0">
                <a:solidFill>
                  <a:srgbClr val="D6E4F5"/>
                </a:solidFill>
                <a:latin typeface="HSE Slab Regular"/>
                <a:ea typeface="Arial" pitchFamily="34" charset="-122"/>
                <a:cs typeface="Arial" pitchFamily="34" charset="-120"/>
              </a:rPr>
              <a:t>Analytics and tech panel</a:t>
            </a:r>
            <a:endParaRPr lang="en-US" sz="1220" dirty="0">
              <a:solidFill>
                <a:srgbClr val="D6E4F5"/>
              </a:solidFill>
              <a:latin typeface="HSE Slab Regular"/>
            </a:endParaRPr>
          </a:p>
        </p:txBody>
      </p:sp>
      <p:sp>
        <p:nvSpPr>
          <p:cNvPr id="35" name="Text 31"/>
          <p:cNvSpPr/>
          <p:nvPr/>
        </p:nvSpPr>
        <p:spPr>
          <a:xfrm>
            <a:off x="6922008" y="4197096"/>
            <a:ext cx="1517904" cy="941832"/>
          </a:xfrm>
          <a:prstGeom prst="rect">
            <a:avLst/>
          </a:prstGeom>
          <a:noFill/>
          <a:ln/>
        </p:spPr>
        <p:txBody>
          <a:bodyPr wrap="square" lIns="0" tIns="0" rIns="0" bIns="0" rtlCol="0" anchor="ctr">
            <a:normAutofit/>
          </a:bodyPr>
          <a:lstStyle/>
          <a:p>
            <a:r>
              <a:rPr sz="1520">
                <a:solidFill>
                  <a:srgbClr val="F8FAFC"/>
                </a:solidFill>
                <a:latin typeface="HSE Sans Regular"/>
              </a:rPr>
              <a:t>Session log, message count, token usage, and API cost.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9</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Solution Architecture</a:t>
            </a:r>
            <a:endParaRPr lang="en-US" sz="2250" dirty="0">
              <a:solidFill>
                <a:srgbClr val="182B49"/>
              </a:solidFill>
              <a:latin typeface="HSE Slab Black" panose="02000000000000000000" pitchFamily="50" charset="0"/>
            </a:endParaRPr>
          </a:p>
        </p:txBody>
      </p:sp>
      <p:sp>
        <p:nvSpPr>
          <p:cNvPr id="12" name="Shape 8"/>
          <p:cNvSpPr/>
          <p:nvPr/>
        </p:nvSpPr>
        <p:spPr>
          <a:xfrm>
            <a:off x="713232" y="1920240"/>
            <a:ext cx="3401568" cy="3337560"/>
          </a:xfrm>
          <a:prstGeom prst="roundRect">
            <a:avLst>
              <a:gd name="adj" fmla="val 1644"/>
            </a:avLst>
          </a:prstGeom>
          <a:solidFill>
            <a:srgbClr val="FFFFFF"/>
          </a:solidFill>
          <a:ln w="12700">
            <a:solidFill>
              <a:srgbClr val="D6DCE8"/>
            </a:solidFill>
            <a:prstDash val="solid"/>
          </a:ln>
        </p:spPr>
      </p:sp>
      <p:sp>
        <p:nvSpPr>
          <p:cNvPr id="13" name="Shape 9"/>
          <p:cNvSpPr/>
          <p:nvPr/>
        </p:nvSpPr>
        <p:spPr>
          <a:xfrm>
            <a:off x="713232" y="1920240"/>
            <a:ext cx="3401568" cy="310896"/>
          </a:xfrm>
          <a:prstGeom prst="rect">
            <a:avLst/>
          </a:prstGeom>
          <a:solidFill>
            <a:srgbClr val="0F2E68"/>
          </a:solidFill>
          <a:ln w="12700">
            <a:solidFill>
              <a:srgbClr val="0F2E68"/>
            </a:solidFill>
            <a:prstDash val="solid"/>
          </a:ln>
        </p:spPr>
      </p:sp>
      <p:sp>
        <p:nvSpPr>
          <p:cNvPr id="14" name="Text 10"/>
          <p:cNvSpPr/>
          <p:nvPr/>
        </p:nvSpPr>
        <p:spPr>
          <a:xfrm>
            <a:off x="822960" y="1984248"/>
            <a:ext cx="3182112"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Interface layer</a:t>
            </a:r>
            <a:endParaRPr lang="en-US" sz="1320" dirty="0">
              <a:solidFill>
                <a:srgbClr val="D6E4F5"/>
              </a:solidFill>
              <a:latin typeface="HSE Slab Regular"/>
            </a:endParaRPr>
          </a:p>
        </p:txBody>
      </p:sp>
      <p:sp>
        <p:nvSpPr>
          <p:cNvPr id="15" name="Text 11"/>
          <p:cNvSpPr/>
          <p:nvPr/>
        </p:nvSpPr>
        <p:spPr>
          <a:xfrm>
            <a:off x="841248" y="2304288"/>
            <a:ext cx="3145536" cy="2880360"/>
          </a:xfrm>
          <a:prstGeom prst="rect">
            <a:avLst/>
          </a:prstGeom>
          <a:noFill/>
          <a:ln/>
        </p:spPr>
        <p:txBody>
          <a:bodyPr wrap="square" lIns="0" tIns="0" rIns="0" bIns="0" rtlCol="0" anchor="ctr">
            <a:normAutofit/>
          </a:bodyPr>
          <a:lstStyle/>
          <a:p>
            <a:r>
              <a:rPr sz="1380">
                <a:solidFill>
                  <a:srgbClr val="182B49"/>
                </a:solidFill>
                <a:latin typeface="HSE Sans Regular"/>
              </a:rPr>
              <a:t>- profile selection and dialogue-style screen</a:t>
            </a:r>
          </a:p>
          <a:p>
            <a:r>
              <a:rPr sz="1380">
                <a:solidFill>
                  <a:srgbClr val="182B49"/>
                </a:solidFill>
                <a:latin typeface="HSE Sans Regular"/>
              </a:rPr>
              <a:t>- age mode and prompt editing</a:t>
            </a:r>
          </a:p>
          <a:p>
            <a:r>
              <a:rPr sz="1380">
                <a:solidFill>
                  <a:srgbClr val="182B49"/>
                </a:solidFill>
                <a:latin typeface="HSE Sans Regular"/>
              </a:rPr>
              <a:t>- scenario and document input</a:t>
            </a:r>
          </a:p>
          <a:p>
            <a:r>
              <a:rPr sz="1380">
                <a:solidFill>
                  <a:srgbClr val="182B49"/>
                </a:solidFill>
                <a:latin typeface="HSE Sans Regular"/>
              </a:rPr>
              <a:t>- voice-session controls</a:t>
            </a:r>
          </a:p>
          <a:p>
            <a:r>
              <a:rPr sz="1380">
                <a:solidFill>
                  <a:srgbClr val="182B49"/>
                </a:solidFill>
                <a:latin typeface="HSE Sans Regular"/>
              </a:rPr>
              <a:t>- audio, conversation, and log widgets</a:t>
            </a:r>
          </a:p>
        </p:txBody>
      </p:sp>
      <p:sp>
        <p:nvSpPr>
          <p:cNvPr id="16" name="Shape 12"/>
          <p:cNvSpPr/>
          <p:nvPr/>
        </p:nvSpPr>
        <p:spPr>
          <a:xfrm>
            <a:off x="4407408" y="1920240"/>
            <a:ext cx="3401568" cy="3337560"/>
          </a:xfrm>
          <a:prstGeom prst="roundRect">
            <a:avLst>
              <a:gd name="adj" fmla="val 1644"/>
            </a:avLst>
          </a:prstGeom>
          <a:solidFill>
            <a:srgbClr val="FFFFFF"/>
          </a:solidFill>
          <a:ln w="12700">
            <a:solidFill>
              <a:srgbClr val="D6DCE8"/>
            </a:solidFill>
            <a:prstDash val="solid"/>
          </a:ln>
        </p:spPr>
      </p:sp>
      <p:sp>
        <p:nvSpPr>
          <p:cNvPr id="17" name="Shape 13"/>
          <p:cNvSpPr/>
          <p:nvPr/>
        </p:nvSpPr>
        <p:spPr>
          <a:xfrm>
            <a:off x="4407408" y="1920240"/>
            <a:ext cx="3401568" cy="310896"/>
          </a:xfrm>
          <a:prstGeom prst="rect">
            <a:avLst/>
          </a:prstGeom>
          <a:solidFill>
            <a:srgbClr val="0F2E68"/>
          </a:solidFill>
          <a:ln w="12700">
            <a:solidFill>
              <a:srgbClr val="0F2E68"/>
            </a:solidFill>
            <a:prstDash val="solid"/>
          </a:ln>
        </p:spPr>
      </p:sp>
      <p:sp>
        <p:nvSpPr>
          <p:cNvPr id="18" name="Text 14"/>
          <p:cNvSpPr/>
          <p:nvPr/>
        </p:nvSpPr>
        <p:spPr>
          <a:xfrm>
            <a:off x="4517136" y="1984248"/>
            <a:ext cx="3182112"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Logic layer</a:t>
            </a:r>
            <a:endParaRPr lang="en-US" sz="1400" dirty="0">
              <a:solidFill>
                <a:srgbClr val="D6E4F5"/>
              </a:solidFill>
              <a:latin typeface="HSE Slab Regular"/>
            </a:endParaRPr>
          </a:p>
        </p:txBody>
      </p:sp>
      <p:sp>
        <p:nvSpPr>
          <p:cNvPr id="19" name="Text 15"/>
          <p:cNvSpPr/>
          <p:nvPr/>
        </p:nvSpPr>
        <p:spPr>
          <a:xfrm>
            <a:off x="4535424" y="2304288"/>
            <a:ext cx="3145536" cy="2880360"/>
          </a:xfrm>
          <a:prstGeom prst="rect">
            <a:avLst/>
          </a:prstGeom>
          <a:noFill/>
          <a:ln/>
        </p:spPr>
        <p:txBody>
          <a:bodyPr wrap="square" lIns="0" tIns="0" rIns="0" bIns="0" rtlCol="0" anchor="ctr">
            <a:normAutofit/>
          </a:bodyPr>
          <a:lstStyle/>
          <a:p>
            <a:r>
              <a:rPr sz="1380">
                <a:solidFill>
                  <a:srgbClr val="182B49"/>
                </a:solidFill>
                <a:latin typeface="HSE Sans Regular"/>
              </a:rPr>
              <a:t>- intent routing and LawVoice dialog manager</a:t>
            </a:r>
          </a:p>
          <a:p>
            <a:r>
              <a:rPr sz="1380">
                <a:solidFill>
                  <a:srgbClr val="182B49"/>
                </a:solidFill>
                <a:latin typeface="HSE Sans Regular"/>
              </a:rPr>
              <a:t>- session state and safety-aware profile switching</a:t>
            </a:r>
          </a:p>
          <a:p>
            <a:r>
              <a:rPr sz="1380">
                <a:solidFill>
                  <a:srgbClr val="182B49"/>
                </a:solidFill>
                <a:latin typeface="HSE Sans Regular"/>
              </a:rPr>
              <a:t>- grounded action-plan generation</a:t>
            </a:r>
          </a:p>
          <a:p>
            <a:r>
              <a:rPr sz="1380">
                <a:solidFill>
                  <a:srgbClr val="182B49"/>
                </a:solidFill>
                <a:latin typeface="HSE Sans Regular"/>
              </a:rPr>
              <a:t>- analytics logging and prompt control</a:t>
            </a:r>
          </a:p>
        </p:txBody>
      </p:sp>
      <p:sp>
        <p:nvSpPr>
          <p:cNvPr id="20" name="Shape 16"/>
          <p:cNvSpPr/>
          <p:nvPr/>
        </p:nvSpPr>
        <p:spPr>
          <a:xfrm>
            <a:off x="8101584" y="1920240"/>
            <a:ext cx="3383280" cy="3337560"/>
          </a:xfrm>
          <a:prstGeom prst="roundRect">
            <a:avLst>
              <a:gd name="adj" fmla="val 1644"/>
            </a:avLst>
          </a:prstGeom>
          <a:solidFill>
            <a:srgbClr val="FFFFFF"/>
          </a:solidFill>
          <a:ln w="12700">
            <a:solidFill>
              <a:srgbClr val="D6DCE8"/>
            </a:solidFill>
            <a:prstDash val="solid"/>
          </a:ln>
        </p:spPr>
      </p:sp>
      <p:sp>
        <p:nvSpPr>
          <p:cNvPr id="21" name="Shape 17"/>
          <p:cNvSpPr/>
          <p:nvPr/>
        </p:nvSpPr>
        <p:spPr>
          <a:xfrm>
            <a:off x="8101584" y="1920240"/>
            <a:ext cx="3383280" cy="310896"/>
          </a:xfrm>
          <a:prstGeom prst="rect">
            <a:avLst/>
          </a:prstGeom>
          <a:solidFill>
            <a:srgbClr val="0F2E68"/>
          </a:solidFill>
          <a:ln w="12700">
            <a:solidFill>
              <a:srgbClr val="0F2E68"/>
            </a:solidFill>
            <a:prstDash val="solid"/>
          </a:ln>
        </p:spPr>
      </p:sp>
      <p:sp>
        <p:nvSpPr>
          <p:cNvPr id="22" name="Text 18"/>
          <p:cNvSpPr/>
          <p:nvPr/>
        </p:nvSpPr>
        <p:spPr>
          <a:xfrm>
            <a:off x="8211312" y="1984248"/>
            <a:ext cx="3163824" cy="164592"/>
          </a:xfrm>
          <a:prstGeom prst="rect">
            <a:avLst/>
          </a:prstGeom>
          <a:noFill/>
          <a:ln/>
        </p:spPr>
        <p:txBody>
          <a:bodyPr wrap="square" lIns="0" tIns="0" rIns="0" bIns="0" rtlCol="0" anchor="ctr">
            <a:noAutofit/>
          </a:bodyPr>
          <a:lstStyle/>
          <a:p>
            <a:pPr marL="0" indent="0">
              <a:buNone/>
            </a:pPr>
            <a:r>
              <a:rPr lang="en-US" sz="1220" b="1" dirty="0">
                <a:solidFill>
                  <a:srgbClr val="D6E4F5"/>
                </a:solidFill>
                <a:latin typeface="HSE Slab Regular"/>
                <a:ea typeface="Arial" pitchFamily="34" charset="-122"/>
                <a:cs typeface="Arial" pitchFamily="34" charset="-120"/>
              </a:rPr>
              <a:t>AI and integration layer</a:t>
            </a:r>
            <a:endParaRPr lang="en-US" sz="1220" dirty="0">
              <a:solidFill>
                <a:srgbClr val="D6E4F5"/>
              </a:solidFill>
              <a:latin typeface="HSE Slab Regular"/>
            </a:endParaRPr>
          </a:p>
        </p:txBody>
      </p:sp>
      <p:sp>
        <p:nvSpPr>
          <p:cNvPr id="23" name="Text 19"/>
          <p:cNvSpPr/>
          <p:nvPr/>
        </p:nvSpPr>
        <p:spPr>
          <a:xfrm>
            <a:off x="8229600" y="2304288"/>
            <a:ext cx="3127248" cy="2880360"/>
          </a:xfrm>
          <a:prstGeom prst="rect">
            <a:avLst/>
          </a:prstGeom>
          <a:noFill/>
          <a:ln/>
        </p:spPr>
        <p:txBody>
          <a:bodyPr wrap="square" lIns="0" tIns="0" rIns="0" bIns="0" rtlCol="0" anchor="ctr">
            <a:normAutofit/>
          </a:bodyPr>
          <a:lstStyle/>
          <a:p>
            <a:r>
              <a:rPr sz="1380">
                <a:solidFill>
                  <a:srgbClr val="182B49"/>
                </a:solidFill>
                <a:latin typeface="HSE Sans Regular"/>
              </a:rPr>
              <a:t>- OpenAI Realtime API and WebRTC</a:t>
            </a:r>
          </a:p>
          <a:p>
            <a:r>
              <a:rPr sz="1380">
                <a:solidFill>
                  <a:srgbClr val="182B49"/>
                </a:solidFill>
                <a:latin typeface="HSE Sans Regular"/>
              </a:rPr>
              <a:t>- Node.js / Express backend</a:t>
            </a:r>
          </a:p>
          <a:p>
            <a:r>
              <a:rPr sz="1380">
                <a:solidFill>
                  <a:srgbClr val="182B49"/>
                </a:solidFill>
                <a:latin typeface="HSE Sans Regular"/>
              </a:rPr>
              <a:t>- PostgreSQL with pgvector and knowledge chunks</a:t>
            </a:r>
          </a:p>
          <a:p>
            <a:r>
              <a:rPr sz="1380">
                <a:solidFill>
                  <a:srgbClr val="182B49"/>
                </a:solidFill>
                <a:latin typeface="HSE Sans Regular"/>
              </a:rPr>
              <a:t>- gpt-realtime-mini and embedding services</a:t>
            </a:r>
          </a:p>
        </p:txBody>
      </p:sp>
      <p:sp>
        <p:nvSpPr>
          <p:cNvPr id="24" name="Shape 20"/>
          <p:cNvSpPr/>
          <p:nvPr/>
        </p:nvSpPr>
        <p:spPr>
          <a:xfrm>
            <a:off x="932688" y="5532120"/>
            <a:ext cx="10378440" cy="310896"/>
          </a:xfrm>
          <a:prstGeom prst="rect">
            <a:avLst/>
          </a:prstGeom>
          <a:solidFill>
            <a:srgbClr val="0F2E68"/>
          </a:solidFill>
          <a:ln w="12700">
            <a:solidFill>
              <a:srgbClr val="0F2E68"/>
            </a:solidFill>
            <a:prstDash val="solid"/>
          </a:ln>
        </p:spPr>
      </p:sp>
      <p:sp>
        <p:nvSpPr>
          <p:cNvPr id="25" name="Text 21"/>
          <p:cNvSpPr/>
          <p:nvPr/>
        </p:nvSpPr>
        <p:spPr>
          <a:xfrm>
            <a:off x="1051560" y="5605272"/>
            <a:ext cx="10149840" cy="146304"/>
          </a:xfrm>
          <a:prstGeom prst="rect">
            <a:avLst/>
          </a:prstGeom>
          <a:noFill/>
          <a:ln/>
        </p:spPr>
        <p:txBody>
          <a:bodyPr wrap="square" lIns="0" tIns="0" rIns="0" bIns="0" rtlCol="0" anchor="ctr">
            <a:noAutofit/>
          </a:bodyPr>
          <a:lstStyle/>
          <a:p>
            <a:r>
              <a:rPr sz="1460">
                <a:solidFill>
                  <a:srgbClr val="F8FAFC"/>
                </a:solidFill>
                <a:latin typeface="HSE Sans Regular"/>
              </a:rPr>
              <a:t>Current implementation: a LawVoice domain layer built on top of an adapted realtime voice-agent foundation.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10</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Teen Legal Scenarios</a:t>
            </a:r>
            <a:endParaRPr lang="en-US" sz="2250" dirty="0">
              <a:solidFill>
                <a:srgbClr val="182B49"/>
              </a:solidFill>
              <a:latin typeface="HSE Slab Black" panose="02000000000000000000" pitchFamily="50" charset="0"/>
            </a:endParaRPr>
          </a:p>
        </p:txBody>
      </p:sp>
      <p:sp>
        <p:nvSpPr>
          <p:cNvPr id="12" name="Shape 8"/>
          <p:cNvSpPr/>
          <p:nvPr/>
        </p:nvSpPr>
        <p:spPr>
          <a:xfrm>
            <a:off x="749808" y="2011680"/>
            <a:ext cx="3401568" cy="3566160"/>
          </a:xfrm>
          <a:prstGeom prst="roundRect">
            <a:avLst>
              <a:gd name="adj" fmla="val 1613"/>
            </a:avLst>
          </a:prstGeom>
          <a:solidFill>
            <a:srgbClr val="FFFFFF"/>
          </a:solidFill>
          <a:ln w="12700">
            <a:solidFill>
              <a:srgbClr val="D6DCE8"/>
            </a:solidFill>
            <a:prstDash val="solid"/>
          </a:ln>
        </p:spPr>
      </p:sp>
      <p:sp>
        <p:nvSpPr>
          <p:cNvPr id="13" name="Shape 9"/>
          <p:cNvSpPr/>
          <p:nvPr/>
        </p:nvSpPr>
        <p:spPr>
          <a:xfrm>
            <a:off x="749808" y="2011680"/>
            <a:ext cx="3401568" cy="310896"/>
          </a:xfrm>
          <a:prstGeom prst="rect">
            <a:avLst/>
          </a:prstGeom>
          <a:solidFill>
            <a:srgbClr val="0F2E68"/>
          </a:solidFill>
          <a:ln w="12700">
            <a:solidFill>
              <a:srgbClr val="0F2E68"/>
            </a:solidFill>
            <a:prstDash val="solid"/>
          </a:ln>
        </p:spPr>
      </p:sp>
      <p:sp>
        <p:nvSpPr>
          <p:cNvPr id="14" name="Text 10"/>
          <p:cNvSpPr/>
          <p:nvPr/>
        </p:nvSpPr>
        <p:spPr>
          <a:xfrm>
            <a:off x="859536" y="2075688"/>
            <a:ext cx="3182112"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Cyberbullying</a:t>
            </a:r>
            <a:endParaRPr lang="en-US" sz="1320" dirty="0">
              <a:solidFill>
                <a:srgbClr val="D6E4F5"/>
              </a:solidFill>
              <a:latin typeface="HSE Slab Regular"/>
            </a:endParaRPr>
          </a:p>
        </p:txBody>
      </p:sp>
      <p:sp>
        <p:nvSpPr>
          <p:cNvPr id="15" name="Text 11"/>
          <p:cNvSpPr/>
          <p:nvPr/>
        </p:nvSpPr>
        <p:spPr>
          <a:xfrm>
            <a:off x="877824" y="2395728"/>
            <a:ext cx="3145536" cy="3108960"/>
          </a:xfrm>
          <a:prstGeom prst="rect">
            <a:avLst/>
          </a:prstGeom>
          <a:noFill/>
          <a:ln/>
        </p:spPr>
        <p:txBody>
          <a:bodyPr wrap="square" lIns="0" tIns="0" rIns="0" bIns="0" rtlCol="0" anchor="ctr">
            <a:normAutofit/>
          </a:bodyPr>
          <a:lstStyle/>
          <a:p>
            <a:r>
              <a:rPr sz="1300">
                <a:solidFill>
                  <a:srgbClr val="182B49"/>
                </a:solidFill>
                <a:latin typeface="HSE Sans Regular"/>
              </a:rPr>
              <a:t>- clarify what happened, where it happened, and whether evidence exists</a:t>
            </a:r>
          </a:p>
          <a:p>
            <a:r>
              <a:rPr sz="1300">
                <a:solidFill>
                  <a:srgbClr val="182B49"/>
                </a:solidFill>
                <a:latin typeface="HSE Sans Regular"/>
              </a:rPr>
              <a:t>- separate facts from emotion and assess risk</a:t>
            </a:r>
          </a:p>
          <a:p>
            <a:r>
              <a:rPr sz="1300">
                <a:solidFill>
                  <a:srgbClr val="182B49"/>
                </a:solidFill>
                <a:latin typeface="HSE Sans Regular"/>
              </a:rPr>
              <a:t>- suggest safe next steps and evidence preservation</a:t>
            </a:r>
          </a:p>
          <a:p>
            <a:r>
              <a:rPr sz="1300">
                <a:solidFill>
                  <a:srgbClr val="182B49"/>
                </a:solidFill>
                <a:latin typeface="HSE Sans Regular"/>
              </a:rPr>
              <a:t>- in dangerous situations, recommend a trusted adult or 112</a:t>
            </a:r>
          </a:p>
        </p:txBody>
      </p:sp>
      <p:sp>
        <p:nvSpPr>
          <p:cNvPr id="16" name="Shape 12"/>
          <p:cNvSpPr/>
          <p:nvPr/>
        </p:nvSpPr>
        <p:spPr>
          <a:xfrm>
            <a:off x="4407408" y="2011680"/>
            <a:ext cx="3401568" cy="3566160"/>
          </a:xfrm>
          <a:prstGeom prst="roundRect">
            <a:avLst>
              <a:gd name="adj" fmla="val 1613"/>
            </a:avLst>
          </a:prstGeom>
          <a:solidFill>
            <a:srgbClr val="FFFFFF"/>
          </a:solidFill>
          <a:ln w="12700">
            <a:solidFill>
              <a:srgbClr val="D6DCE8"/>
            </a:solidFill>
            <a:prstDash val="solid"/>
          </a:ln>
        </p:spPr>
      </p:sp>
      <p:sp>
        <p:nvSpPr>
          <p:cNvPr id="17" name="Shape 13"/>
          <p:cNvSpPr/>
          <p:nvPr/>
        </p:nvSpPr>
        <p:spPr>
          <a:xfrm>
            <a:off x="4407408" y="2011680"/>
            <a:ext cx="3401568" cy="310896"/>
          </a:xfrm>
          <a:prstGeom prst="rect">
            <a:avLst/>
          </a:prstGeom>
          <a:solidFill>
            <a:srgbClr val="0F2E68"/>
          </a:solidFill>
          <a:ln w="12700">
            <a:solidFill>
              <a:srgbClr val="0F2E68"/>
            </a:solidFill>
            <a:prstDash val="solid"/>
          </a:ln>
        </p:spPr>
      </p:sp>
      <p:sp>
        <p:nvSpPr>
          <p:cNvPr id="18" name="Text 14"/>
          <p:cNvSpPr/>
          <p:nvPr/>
        </p:nvSpPr>
        <p:spPr>
          <a:xfrm>
            <a:off x="4517136" y="2075688"/>
            <a:ext cx="3182112"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Online purchases</a:t>
            </a:r>
            <a:endParaRPr lang="en-US" sz="1320" dirty="0">
              <a:solidFill>
                <a:srgbClr val="D6E4F5"/>
              </a:solidFill>
              <a:latin typeface="HSE Slab Regular"/>
            </a:endParaRPr>
          </a:p>
        </p:txBody>
      </p:sp>
      <p:sp>
        <p:nvSpPr>
          <p:cNvPr id="19" name="Text 15"/>
          <p:cNvSpPr/>
          <p:nvPr/>
        </p:nvSpPr>
        <p:spPr>
          <a:xfrm>
            <a:off x="4535424" y="2395728"/>
            <a:ext cx="3145536" cy="3108960"/>
          </a:xfrm>
          <a:prstGeom prst="rect">
            <a:avLst/>
          </a:prstGeom>
          <a:noFill/>
          <a:ln/>
        </p:spPr>
        <p:txBody>
          <a:bodyPr wrap="square" lIns="0" tIns="0" rIns="0" bIns="0" rtlCol="0" anchor="ctr">
            <a:normAutofit/>
          </a:bodyPr>
          <a:lstStyle/>
          <a:p>
            <a:r>
              <a:rPr sz="1300">
                <a:solidFill>
                  <a:srgbClr val="182B49"/>
                </a:solidFill>
                <a:latin typeface="HSE Sans Regular"/>
              </a:rPr>
              <a:t>- clarify the order, payment, delivery, and seller</a:t>
            </a:r>
          </a:p>
          <a:p>
            <a:r>
              <a:rPr sz="1300">
                <a:solidFill>
                  <a:srgbClr val="182B49"/>
                </a:solidFill>
                <a:latin typeface="HSE Sans Regular"/>
              </a:rPr>
              <a:t>- review evidence such as receipts, chats, screenshots, and order cards</a:t>
            </a:r>
          </a:p>
          <a:p>
            <a:r>
              <a:rPr sz="1300">
                <a:solidFill>
                  <a:srgbClr val="182B49"/>
                </a:solidFill>
                <a:latin typeface="HSE Sans Regular"/>
              </a:rPr>
              <a:t>- discuss return, complaint, and documentation of the problem</a:t>
            </a:r>
          </a:p>
          <a:p>
            <a:r>
              <a:rPr sz="1300">
                <a:solidFill>
                  <a:srgbClr val="182B49"/>
                </a:solidFill>
                <a:latin typeface="HSE Sans Regular"/>
              </a:rPr>
              <a:t>- offer a practical next step for today</a:t>
            </a:r>
          </a:p>
        </p:txBody>
      </p:sp>
      <p:sp>
        <p:nvSpPr>
          <p:cNvPr id="20" name="Shape 16"/>
          <p:cNvSpPr/>
          <p:nvPr/>
        </p:nvSpPr>
        <p:spPr>
          <a:xfrm>
            <a:off x="8065008" y="2011680"/>
            <a:ext cx="3401568" cy="3566160"/>
          </a:xfrm>
          <a:prstGeom prst="roundRect">
            <a:avLst>
              <a:gd name="adj" fmla="val 1613"/>
            </a:avLst>
          </a:prstGeom>
          <a:solidFill>
            <a:srgbClr val="FFFFFF"/>
          </a:solidFill>
          <a:ln w="12700">
            <a:solidFill>
              <a:srgbClr val="D6DCE8"/>
            </a:solidFill>
            <a:prstDash val="solid"/>
          </a:ln>
        </p:spPr>
      </p:sp>
      <p:sp>
        <p:nvSpPr>
          <p:cNvPr id="21" name="Shape 17"/>
          <p:cNvSpPr/>
          <p:nvPr/>
        </p:nvSpPr>
        <p:spPr>
          <a:xfrm>
            <a:off x="8065008" y="2011680"/>
            <a:ext cx="3401568" cy="310896"/>
          </a:xfrm>
          <a:prstGeom prst="rect">
            <a:avLst/>
          </a:prstGeom>
          <a:solidFill>
            <a:srgbClr val="0F2E68"/>
          </a:solidFill>
          <a:ln w="12700">
            <a:solidFill>
              <a:srgbClr val="0F2E68"/>
            </a:solidFill>
            <a:prstDash val="solid"/>
          </a:ln>
        </p:spPr>
      </p:sp>
      <p:sp>
        <p:nvSpPr>
          <p:cNvPr id="22" name="Text 18"/>
          <p:cNvSpPr/>
          <p:nvPr/>
        </p:nvSpPr>
        <p:spPr>
          <a:xfrm>
            <a:off x="8174736" y="2075688"/>
            <a:ext cx="3182112"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Rights at school</a:t>
            </a:r>
            <a:endParaRPr lang="en-US" sz="1320" dirty="0">
              <a:solidFill>
                <a:srgbClr val="D6E4F5"/>
              </a:solidFill>
              <a:latin typeface="HSE Slab Regular"/>
            </a:endParaRPr>
          </a:p>
        </p:txBody>
      </p:sp>
      <p:sp>
        <p:nvSpPr>
          <p:cNvPr id="23" name="Text 19"/>
          <p:cNvSpPr/>
          <p:nvPr/>
        </p:nvSpPr>
        <p:spPr>
          <a:xfrm>
            <a:off x="8193024" y="2395728"/>
            <a:ext cx="3145536" cy="3108960"/>
          </a:xfrm>
          <a:prstGeom prst="rect">
            <a:avLst/>
          </a:prstGeom>
          <a:noFill/>
          <a:ln/>
        </p:spPr>
        <p:txBody>
          <a:bodyPr wrap="square" lIns="0" tIns="0" rIns="0" bIns="0" rtlCol="0" anchor="ctr">
            <a:normAutofit/>
          </a:bodyPr>
          <a:lstStyle/>
          <a:p>
            <a:r>
              <a:rPr sz="1300">
                <a:solidFill>
                  <a:srgbClr val="182B49"/>
                </a:solidFill>
                <a:latin typeface="HSE Sans Regular"/>
              </a:rPr>
              <a:t>- discuss the conflict calmly and without stigma</a:t>
            </a:r>
          </a:p>
          <a:p>
            <a:r>
              <a:rPr sz="1300">
                <a:solidFill>
                  <a:srgbClr val="182B49"/>
                </a:solidFill>
                <a:latin typeface="HSE Sans Regular"/>
              </a:rPr>
              <a:t>- explain rights, obligations, and school boundaries in simple language</a:t>
            </a:r>
          </a:p>
          <a:p>
            <a:r>
              <a:rPr sz="1300">
                <a:solidFill>
                  <a:srgbClr val="182B49"/>
                </a:solidFill>
                <a:latin typeface="HSE Sans Regular"/>
              </a:rPr>
              <a:t>- help formulate a message for a teacher, parent, or administrator</a:t>
            </a:r>
          </a:p>
          <a:p>
            <a:r>
              <a:rPr sz="1300">
                <a:solidFill>
                  <a:srgbClr val="182B49"/>
                </a:solidFill>
                <a:latin typeface="HSE Sans Regular"/>
              </a:rPr>
              <a:t>- turn the situation into a short action plan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11</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Interface Components</a:t>
            </a:r>
            <a:endParaRPr lang="en-US" sz="2250" dirty="0">
              <a:solidFill>
                <a:srgbClr val="182B49"/>
              </a:solidFill>
              <a:latin typeface="HSE Slab Black" panose="02000000000000000000" pitchFamily="50" charset="0"/>
            </a:endParaRPr>
          </a:p>
        </p:txBody>
      </p:sp>
      <p:sp>
        <p:nvSpPr>
          <p:cNvPr id="12" name="Shape 8"/>
          <p:cNvSpPr/>
          <p:nvPr/>
        </p:nvSpPr>
        <p:spPr>
          <a:xfrm>
            <a:off x="749808" y="2011680"/>
            <a:ext cx="3419856" cy="2286000"/>
          </a:xfrm>
          <a:prstGeom prst="roundRect">
            <a:avLst>
              <a:gd name="adj" fmla="val 3200"/>
            </a:avLst>
          </a:prstGeom>
          <a:solidFill>
            <a:srgbClr val="0F2E68"/>
          </a:solidFill>
          <a:ln w="12700">
            <a:solidFill>
              <a:srgbClr val="0F2E68"/>
            </a:solidFill>
            <a:prstDash val="solid"/>
          </a:ln>
        </p:spPr>
      </p:sp>
      <p:sp>
        <p:nvSpPr>
          <p:cNvPr id="13" name="Text 9"/>
          <p:cNvSpPr/>
          <p:nvPr/>
        </p:nvSpPr>
        <p:spPr>
          <a:xfrm>
            <a:off x="859536" y="2121408"/>
            <a:ext cx="3200400"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Session setup</a:t>
            </a:r>
            <a:endParaRPr lang="en-US" sz="1320" dirty="0">
              <a:solidFill>
                <a:srgbClr val="D6E4F5"/>
              </a:solidFill>
              <a:latin typeface="HSE Slab Regular"/>
            </a:endParaRPr>
          </a:p>
        </p:txBody>
      </p:sp>
      <p:sp>
        <p:nvSpPr>
          <p:cNvPr id="14" name="Text 10"/>
          <p:cNvSpPr/>
          <p:nvPr/>
        </p:nvSpPr>
        <p:spPr>
          <a:xfrm>
            <a:off x="859536" y="2414016"/>
            <a:ext cx="3200400" cy="1810512"/>
          </a:xfrm>
          <a:prstGeom prst="rect">
            <a:avLst/>
          </a:prstGeom>
          <a:noFill/>
          <a:ln/>
        </p:spPr>
        <p:txBody>
          <a:bodyPr wrap="square" lIns="0" tIns="0" rIns="0" bIns="0" rtlCol="0" anchor="ctr">
            <a:normAutofit/>
          </a:bodyPr>
          <a:lstStyle/>
          <a:p>
            <a:r>
              <a:rPr sz="1520">
                <a:solidFill>
                  <a:srgbClr val="F8FAFC"/>
                </a:solidFill>
                <a:latin typeface="HSE Sans Regular"/>
              </a:rPr>
              <a:t>Profile selection</a:t>
            </a:r>
          </a:p>
          <a:p>
            <a:r>
              <a:rPr sz="1520">
                <a:solidFill>
                  <a:srgbClr val="F8FAFC"/>
                </a:solidFill>
                <a:latin typeface="HSE Sans Regular"/>
              </a:rPr>
              <a:t>Age mode</a:t>
            </a:r>
          </a:p>
          <a:p>
            <a:r>
              <a:rPr sz="1520">
                <a:solidFill>
                  <a:srgbClr val="F8FAFC"/>
                </a:solidFill>
                <a:latin typeface="HSE Sans Regular"/>
              </a:rPr>
              <a:t>Rules and instructions</a:t>
            </a:r>
          </a:p>
          <a:p>
            <a:r>
              <a:rPr sz="1520">
                <a:solidFill>
                  <a:srgbClr val="F8FAFC"/>
                </a:solidFill>
                <a:latin typeface="HSE Sans Regular"/>
              </a:rPr>
              <a:t>Scenario and document input</a:t>
            </a:r>
          </a:p>
        </p:txBody>
      </p:sp>
      <p:sp>
        <p:nvSpPr>
          <p:cNvPr id="15" name="Shape 11"/>
          <p:cNvSpPr/>
          <p:nvPr/>
        </p:nvSpPr>
        <p:spPr>
          <a:xfrm>
            <a:off x="4389120" y="2011680"/>
            <a:ext cx="3419856" cy="2286000"/>
          </a:xfrm>
          <a:prstGeom prst="roundRect">
            <a:avLst>
              <a:gd name="adj" fmla="val 3200"/>
            </a:avLst>
          </a:prstGeom>
          <a:solidFill>
            <a:srgbClr val="0F2E68"/>
          </a:solidFill>
          <a:ln w="12700">
            <a:solidFill>
              <a:srgbClr val="0F2E68"/>
            </a:solidFill>
            <a:prstDash val="solid"/>
          </a:ln>
        </p:spPr>
      </p:sp>
      <p:sp>
        <p:nvSpPr>
          <p:cNvPr id="16" name="Text 12"/>
          <p:cNvSpPr/>
          <p:nvPr/>
        </p:nvSpPr>
        <p:spPr>
          <a:xfrm>
            <a:off x="4498848" y="2121408"/>
            <a:ext cx="3200400"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Voice dialogue</a:t>
            </a:r>
            <a:endParaRPr lang="en-US" sz="1320" dirty="0">
              <a:solidFill>
                <a:srgbClr val="D6E4F5"/>
              </a:solidFill>
              <a:latin typeface="HSE Slab Regular"/>
            </a:endParaRPr>
          </a:p>
        </p:txBody>
      </p:sp>
      <p:sp>
        <p:nvSpPr>
          <p:cNvPr id="17" name="Text 13"/>
          <p:cNvSpPr/>
          <p:nvPr/>
        </p:nvSpPr>
        <p:spPr>
          <a:xfrm>
            <a:off x="4498848" y="2414016"/>
            <a:ext cx="3200400" cy="1810512"/>
          </a:xfrm>
          <a:prstGeom prst="rect">
            <a:avLst/>
          </a:prstGeom>
          <a:noFill/>
          <a:ln/>
        </p:spPr>
        <p:txBody>
          <a:bodyPr wrap="square" lIns="0" tIns="0" rIns="0" bIns="0" rtlCol="0" anchor="ctr">
            <a:normAutofit/>
          </a:bodyPr>
          <a:lstStyle/>
          <a:p>
            <a:r>
              <a:rPr sz="1520">
                <a:solidFill>
                  <a:srgbClr val="F8FAFC"/>
                </a:solidFill>
                <a:latin typeface="HSE Sans Regular"/>
              </a:rPr>
              <a:t>Start and end session</a:t>
            </a:r>
          </a:p>
          <a:p>
            <a:r>
              <a:rPr sz="1520">
                <a:solidFill>
                  <a:srgbClr val="F8FAFC"/>
                </a:solidFill>
                <a:latin typeface="HSE Sans Regular"/>
              </a:rPr>
              <a:t>Microphone</a:t>
            </a:r>
          </a:p>
          <a:p>
            <a:r>
              <a:rPr sz="1520">
                <a:solidFill>
                  <a:srgbClr val="F8FAFC"/>
                </a:solidFill>
                <a:latin typeface="HSE Sans Regular"/>
              </a:rPr>
              <a:t>Audio input and output</a:t>
            </a:r>
          </a:p>
          <a:p>
            <a:r>
              <a:rPr sz="1520">
                <a:solidFill>
                  <a:srgbClr val="F8FAFC"/>
                </a:solidFill>
                <a:latin typeface="HSE Sans Regular"/>
              </a:rPr>
              <a:t>Urgent and quiet prompts</a:t>
            </a:r>
          </a:p>
        </p:txBody>
      </p:sp>
      <p:sp>
        <p:nvSpPr>
          <p:cNvPr id="18" name="Shape 14"/>
          <p:cNvSpPr/>
          <p:nvPr/>
        </p:nvSpPr>
        <p:spPr>
          <a:xfrm>
            <a:off x="8028432" y="2011680"/>
            <a:ext cx="3419856" cy="2286000"/>
          </a:xfrm>
          <a:prstGeom prst="roundRect">
            <a:avLst>
              <a:gd name="adj" fmla="val 3200"/>
            </a:avLst>
          </a:prstGeom>
          <a:solidFill>
            <a:srgbClr val="0F2E68"/>
          </a:solidFill>
          <a:ln w="12700">
            <a:solidFill>
              <a:srgbClr val="0F2E68"/>
            </a:solidFill>
            <a:prstDash val="solid"/>
          </a:ln>
        </p:spPr>
      </p:sp>
      <p:sp>
        <p:nvSpPr>
          <p:cNvPr id="19" name="Text 15"/>
          <p:cNvSpPr/>
          <p:nvPr/>
        </p:nvSpPr>
        <p:spPr>
          <a:xfrm>
            <a:off x="8138160" y="2121408"/>
            <a:ext cx="3200400"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Reflection and control</a:t>
            </a:r>
            <a:endParaRPr lang="en-US" sz="1320" dirty="0">
              <a:solidFill>
                <a:srgbClr val="D6E4F5"/>
              </a:solidFill>
              <a:latin typeface="HSE Slab Regular"/>
            </a:endParaRPr>
          </a:p>
        </p:txBody>
      </p:sp>
      <p:sp>
        <p:nvSpPr>
          <p:cNvPr id="20" name="Text 16"/>
          <p:cNvSpPr/>
          <p:nvPr/>
        </p:nvSpPr>
        <p:spPr>
          <a:xfrm>
            <a:off x="8138160" y="2414016"/>
            <a:ext cx="3200400" cy="1810512"/>
          </a:xfrm>
          <a:prstGeom prst="rect">
            <a:avLst/>
          </a:prstGeom>
          <a:noFill/>
          <a:ln/>
        </p:spPr>
        <p:txBody>
          <a:bodyPr wrap="square" lIns="0" tIns="0" rIns="0" bIns="0" rtlCol="0" anchor="ctr">
            <a:normAutofit/>
          </a:bodyPr>
          <a:lstStyle/>
          <a:p>
            <a:r>
              <a:rPr sz="1520">
                <a:solidFill>
                  <a:srgbClr val="F8FAFC"/>
                </a:solidFill>
                <a:latin typeface="HSE Sans Regular"/>
              </a:rPr>
              <a:t>Draft action plan</a:t>
            </a:r>
          </a:p>
          <a:p>
            <a:r>
              <a:rPr sz="1520">
                <a:solidFill>
                  <a:srgbClr val="F8FAFC"/>
                </a:solidFill>
                <a:latin typeface="HSE Sans Regular"/>
              </a:rPr>
              <a:t>Learning analytics</a:t>
            </a:r>
          </a:p>
          <a:p>
            <a:r>
              <a:rPr sz="1520">
                <a:solidFill>
                  <a:srgbClr val="F8FAFC"/>
                </a:solidFill>
                <a:latin typeface="HSE Sans Regular"/>
              </a:rPr>
              <a:t>Action log</a:t>
            </a:r>
          </a:p>
          <a:p>
            <a:r>
              <a:rPr sz="1520">
                <a:solidFill>
                  <a:srgbClr val="F8FAFC"/>
                </a:solidFill>
                <a:latin typeface="HSE Sans Regular"/>
              </a:rPr>
              <a:t>Technical panel and cost</a:t>
            </a:r>
          </a:p>
        </p:txBody>
      </p:sp>
      <p:sp>
        <p:nvSpPr>
          <p:cNvPr id="21" name="Shape 17"/>
          <p:cNvSpPr/>
          <p:nvPr/>
        </p:nvSpPr>
        <p:spPr>
          <a:xfrm>
            <a:off x="1097280" y="4709160"/>
            <a:ext cx="9966960" cy="841248"/>
          </a:xfrm>
          <a:prstGeom prst="roundRect">
            <a:avLst>
              <a:gd name="adj" fmla="val 6522"/>
            </a:avLst>
          </a:prstGeom>
          <a:solidFill>
            <a:srgbClr val="F5F7FB"/>
          </a:solidFill>
          <a:ln w="12700">
            <a:solidFill>
              <a:srgbClr val="D6DCE8"/>
            </a:solidFill>
            <a:prstDash val="solid"/>
          </a:ln>
        </p:spPr>
      </p:sp>
      <p:sp>
        <p:nvSpPr>
          <p:cNvPr id="22" name="Text 18"/>
          <p:cNvSpPr/>
          <p:nvPr/>
        </p:nvSpPr>
        <p:spPr>
          <a:xfrm>
            <a:off x="1225296" y="4818888"/>
            <a:ext cx="9710928" cy="658368"/>
          </a:xfrm>
          <a:prstGeom prst="rect">
            <a:avLst/>
          </a:prstGeom>
          <a:noFill/>
          <a:ln/>
        </p:spPr>
        <p:txBody>
          <a:bodyPr wrap="square" lIns="0" tIns="0" rIns="0" bIns="0" rtlCol="0" anchor="ctr">
            <a:normAutofit/>
          </a:bodyPr>
          <a:lstStyle/>
          <a:p>
            <a:r>
              <a:rPr sz="1460">
                <a:solidFill>
                  <a:srgbClr val="182B49"/>
                </a:solidFill>
                <a:latin typeface="HSE Sans Regular"/>
              </a:rPr>
              <a:t>This layout separates preparation, live dialogue, and post-session reflection, which is useful both for a demo and for later research.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12</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Current Limitations</a:t>
            </a:r>
            <a:endParaRPr lang="en-US" sz="2250" dirty="0">
              <a:solidFill>
                <a:srgbClr val="182B49"/>
              </a:solidFill>
              <a:latin typeface="HSE Slab Black" panose="02000000000000000000" pitchFamily="50" charset="0"/>
            </a:endParaRPr>
          </a:p>
        </p:txBody>
      </p:sp>
      <p:sp>
        <p:nvSpPr>
          <p:cNvPr id="12" name="Text 8"/>
          <p:cNvSpPr/>
          <p:nvPr/>
        </p:nvSpPr>
        <p:spPr>
          <a:xfrm>
            <a:off x="841248" y="1847088"/>
            <a:ext cx="8435756" cy="3154680"/>
          </a:xfrm>
          <a:prstGeom prst="rect">
            <a:avLst/>
          </a:prstGeom>
          <a:noFill/>
          <a:ln/>
        </p:spPr>
        <p:txBody>
          <a:bodyPr wrap="square" lIns="762" tIns="762" rIns="762" bIns="762" rtlCol="0" anchor="t">
            <a:normAutofit/>
          </a:bodyPr>
          <a:lstStyle/>
          <a:p>
            <a:r>
              <a:rPr sz="1600">
                <a:solidFill>
                  <a:srgbClr val="182B49"/>
                </a:solidFill>
                <a:latin typeface="HSE Sans Regular"/>
              </a:rPr>
              <a:t>- The current version is an MVP, and some interface and logic blocks are still demonstrational rather than research-validated.</a:t>
            </a:r>
          </a:p>
          <a:p>
            <a:r>
              <a:rPr sz="1600">
                <a:solidFill>
                  <a:srgbClr val="182B49"/>
                </a:solidFill>
                <a:latin typeface="HSE Sans Regular"/>
              </a:rPr>
              <a:t>- There are no completed empirical results or classroom pilot measurements yet.</a:t>
            </a:r>
          </a:p>
          <a:p>
            <a:r>
              <a:rPr sz="1600">
                <a:solidFill>
                  <a:srgbClr val="182B49"/>
                </a:solidFill>
                <a:latin typeface="HSE Sans Regular"/>
              </a:rPr>
              <a:t>- The legal content is currently tailored to Russian-language scenarios and still needs expert legal and pedagogical review.</a:t>
            </a:r>
          </a:p>
          <a:p>
            <a:r>
              <a:rPr sz="1600">
                <a:solidFill>
                  <a:srgbClr val="182B49"/>
                </a:solidFill>
                <a:latin typeface="HSE Sans Regular"/>
              </a:rPr>
              <a:t>- Educational deployment would require clearer privacy, moderation, and escalation procedures</a:t>
            </a:r>
            <a:r>
              <a:rPr sz="1220">
                <a:solidFill>
                  <a:srgbClr val="182B49"/>
                </a:solidFill>
                <a:latin typeface="HSE Sans Regular"/>
              </a:rPr>
              <a:t>.</a:t>
            </a:r>
          </a:p>
        </p:txBody>
      </p:sp>
      <p:sp>
        <p:nvSpPr>
          <p:cNvPr id="13" name="Shape 9"/>
          <p:cNvSpPr/>
          <p:nvPr/>
        </p:nvSpPr>
        <p:spPr>
          <a:xfrm>
            <a:off x="8138160" y="5193792"/>
            <a:ext cx="2788920" cy="685800"/>
          </a:xfrm>
          <a:prstGeom prst="roundRect">
            <a:avLst>
              <a:gd name="adj" fmla="val 10667"/>
            </a:avLst>
          </a:prstGeom>
          <a:solidFill>
            <a:srgbClr val="0F2E68"/>
          </a:solidFill>
          <a:ln w="12700">
            <a:solidFill>
              <a:srgbClr val="0F2E68"/>
            </a:solidFill>
            <a:prstDash val="solid"/>
          </a:ln>
        </p:spPr>
      </p:sp>
      <p:sp>
        <p:nvSpPr>
          <p:cNvPr id="14" name="Text 10"/>
          <p:cNvSpPr/>
          <p:nvPr/>
        </p:nvSpPr>
        <p:spPr>
          <a:xfrm>
            <a:off x="8247888" y="5303520"/>
            <a:ext cx="256946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Important</a:t>
            </a:r>
            <a:endParaRPr lang="en-US" sz="1400" dirty="0">
              <a:solidFill>
                <a:srgbClr val="D6E4F5"/>
              </a:solidFill>
              <a:latin typeface="HSE Slab Regular"/>
            </a:endParaRPr>
          </a:p>
        </p:txBody>
      </p:sp>
      <p:sp>
        <p:nvSpPr>
          <p:cNvPr id="15" name="Text 11"/>
          <p:cNvSpPr/>
          <p:nvPr/>
        </p:nvSpPr>
        <p:spPr>
          <a:xfrm>
            <a:off x="8247888" y="5596128"/>
            <a:ext cx="2569464" cy="210312"/>
          </a:xfrm>
          <a:prstGeom prst="rect">
            <a:avLst/>
          </a:prstGeom>
          <a:noFill/>
          <a:ln/>
        </p:spPr>
        <p:txBody>
          <a:bodyPr wrap="square" lIns="0" tIns="0" rIns="0" bIns="0" rtlCol="0" anchor="ctr">
            <a:noAutofit/>
          </a:bodyPr>
          <a:lstStyle/>
          <a:p>
            <a:r>
              <a:rPr sz="1460">
                <a:solidFill>
                  <a:srgbClr val="F8FAFC"/>
                </a:solidFill>
                <a:latin typeface="HSE Sans Regular"/>
              </a:rPr>
              <a:t>The presentation intentionally avoids unsupported claims about learning impact or legal accuracy.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13</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Future Development</a:t>
            </a:r>
            <a:endParaRPr lang="en-US" sz="2250" dirty="0">
              <a:solidFill>
                <a:srgbClr val="182B49"/>
              </a:solidFill>
              <a:latin typeface="HSE Slab Black" panose="02000000000000000000" pitchFamily="50" charset="0"/>
            </a:endParaRPr>
          </a:p>
        </p:txBody>
      </p:sp>
      <p:sp>
        <p:nvSpPr>
          <p:cNvPr id="12" name="Shape 8"/>
          <p:cNvSpPr/>
          <p:nvPr/>
        </p:nvSpPr>
        <p:spPr>
          <a:xfrm>
            <a:off x="749808" y="2029968"/>
            <a:ext cx="3383280" cy="1627632"/>
          </a:xfrm>
          <a:prstGeom prst="roundRect">
            <a:avLst>
              <a:gd name="adj" fmla="val 4494"/>
            </a:avLst>
          </a:prstGeom>
          <a:solidFill>
            <a:srgbClr val="0F2E68"/>
          </a:solidFill>
          <a:ln w="12700">
            <a:solidFill>
              <a:srgbClr val="0F2E68"/>
            </a:solidFill>
            <a:prstDash val="solid"/>
          </a:ln>
        </p:spPr>
      </p:sp>
      <p:sp>
        <p:nvSpPr>
          <p:cNvPr id="13" name="Text 9"/>
          <p:cNvSpPr/>
          <p:nvPr/>
        </p:nvSpPr>
        <p:spPr>
          <a:xfrm>
            <a:off x="859536" y="2139696"/>
            <a:ext cx="31638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Content</a:t>
            </a:r>
            <a:endParaRPr lang="en-US" sz="1400" dirty="0">
              <a:solidFill>
                <a:srgbClr val="D6E4F5"/>
              </a:solidFill>
              <a:latin typeface="HSE Slab Regular"/>
            </a:endParaRPr>
          </a:p>
        </p:txBody>
      </p:sp>
      <p:sp>
        <p:nvSpPr>
          <p:cNvPr id="14" name="Text 10"/>
          <p:cNvSpPr/>
          <p:nvPr/>
        </p:nvSpPr>
        <p:spPr>
          <a:xfrm>
            <a:off x="859536" y="2432304"/>
            <a:ext cx="3163824" cy="1152144"/>
          </a:xfrm>
          <a:prstGeom prst="rect">
            <a:avLst/>
          </a:prstGeom>
          <a:noFill/>
          <a:ln/>
        </p:spPr>
        <p:txBody>
          <a:bodyPr wrap="square" lIns="0" tIns="0" rIns="0" bIns="0" rtlCol="0" anchor="ctr">
            <a:normAutofit/>
          </a:bodyPr>
          <a:lstStyle/>
          <a:p>
            <a:r>
              <a:rPr sz="1520">
                <a:solidFill>
                  <a:srgbClr val="F8FAFC"/>
                </a:solidFill>
                <a:latin typeface="HSE Sans Regular"/>
              </a:rPr>
              <a:t>Expansion of scenarios, documents, explanation modes, and role profiles.</a:t>
            </a:r>
          </a:p>
        </p:txBody>
      </p:sp>
      <p:sp>
        <p:nvSpPr>
          <p:cNvPr id="15" name="Shape 11"/>
          <p:cNvSpPr/>
          <p:nvPr/>
        </p:nvSpPr>
        <p:spPr>
          <a:xfrm>
            <a:off x="4407408" y="2029968"/>
            <a:ext cx="3383280" cy="1627632"/>
          </a:xfrm>
          <a:prstGeom prst="roundRect">
            <a:avLst>
              <a:gd name="adj" fmla="val 4494"/>
            </a:avLst>
          </a:prstGeom>
          <a:solidFill>
            <a:srgbClr val="0F2E68"/>
          </a:solidFill>
          <a:ln w="12700">
            <a:solidFill>
              <a:srgbClr val="0F2E68"/>
            </a:solidFill>
            <a:prstDash val="solid"/>
          </a:ln>
        </p:spPr>
      </p:sp>
      <p:sp>
        <p:nvSpPr>
          <p:cNvPr id="16" name="Text 12"/>
          <p:cNvSpPr/>
          <p:nvPr/>
        </p:nvSpPr>
        <p:spPr>
          <a:xfrm>
            <a:off x="4517136" y="2139696"/>
            <a:ext cx="31638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Safety</a:t>
            </a:r>
            <a:endParaRPr lang="en-US" sz="1400" dirty="0">
              <a:solidFill>
                <a:srgbClr val="D6E4F5"/>
              </a:solidFill>
              <a:latin typeface="HSE Slab Regular"/>
            </a:endParaRPr>
          </a:p>
        </p:txBody>
      </p:sp>
      <p:sp>
        <p:nvSpPr>
          <p:cNvPr id="17" name="Text 13"/>
          <p:cNvSpPr/>
          <p:nvPr/>
        </p:nvSpPr>
        <p:spPr>
          <a:xfrm>
            <a:off x="4517136" y="2432304"/>
            <a:ext cx="3163824" cy="1152144"/>
          </a:xfrm>
          <a:prstGeom prst="rect">
            <a:avLst/>
          </a:prstGeom>
          <a:noFill/>
          <a:ln/>
        </p:spPr>
        <p:txBody>
          <a:bodyPr wrap="square" lIns="0" tIns="0" rIns="0" bIns="0" rtlCol="0" anchor="ctr">
            <a:normAutofit/>
          </a:bodyPr>
          <a:lstStyle/>
          <a:p>
            <a:r>
              <a:rPr sz="1520">
                <a:solidFill>
                  <a:srgbClr val="F8FAFC"/>
                </a:solidFill>
                <a:latin typeface="HSE Sans Regular"/>
              </a:rPr>
              <a:t>Refinement of escalation rules, moderation logic, and privacy boundaries.</a:t>
            </a:r>
          </a:p>
        </p:txBody>
      </p:sp>
      <p:sp>
        <p:nvSpPr>
          <p:cNvPr id="18" name="Shape 14"/>
          <p:cNvSpPr/>
          <p:nvPr/>
        </p:nvSpPr>
        <p:spPr>
          <a:xfrm>
            <a:off x="8065008" y="2029968"/>
            <a:ext cx="3383280" cy="1627632"/>
          </a:xfrm>
          <a:prstGeom prst="roundRect">
            <a:avLst>
              <a:gd name="adj" fmla="val 4494"/>
            </a:avLst>
          </a:prstGeom>
          <a:solidFill>
            <a:srgbClr val="0F2E68"/>
          </a:solidFill>
          <a:ln w="12700">
            <a:solidFill>
              <a:srgbClr val="0F2E68"/>
            </a:solidFill>
            <a:prstDash val="solid"/>
          </a:ln>
        </p:spPr>
      </p:sp>
      <p:sp>
        <p:nvSpPr>
          <p:cNvPr id="19" name="Text 15"/>
          <p:cNvSpPr/>
          <p:nvPr/>
        </p:nvSpPr>
        <p:spPr>
          <a:xfrm>
            <a:off x="8174736" y="2139696"/>
            <a:ext cx="316382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Evaluation</a:t>
            </a:r>
            <a:endParaRPr lang="en-US" sz="1400" dirty="0">
              <a:solidFill>
                <a:srgbClr val="D6E4F5"/>
              </a:solidFill>
              <a:latin typeface="HSE Slab Regular"/>
            </a:endParaRPr>
          </a:p>
        </p:txBody>
      </p:sp>
      <p:sp>
        <p:nvSpPr>
          <p:cNvPr id="20" name="Text 16"/>
          <p:cNvSpPr/>
          <p:nvPr/>
        </p:nvSpPr>
        <p:spPr>
          <a:xfrm>
            <a:off x="8174736" y="2432304"/>
            <a:ext cx="3163824" cy="1152144"/>
          </a:xfrm>
          <a:prstGeom prst="rect">
            <a:avLst/>
          </a:prstGeom>
          <a:noFill/>
          <a:ln/>
        </p:spPr>
        <p:txBody>
          <a:bodyPr wrap="square" lIns="0" tIns="0" rIns="0" bIns="0" rtlCol="0" anchor="ctr">
            <a:normAutofit/>
          </a:bodyPr>
          <a:lstStyle/>
          <a:p>
            <a:r>
              <a:rPr sz="1520">
                <a:solidFill>
                  <a:srgbClr val="F8FAFC"/>
                </a:solidFill>
                <a:latin typeface="HSE Sans Regular"/>
              </a:rPr>
              <a:t>Pilot testing and measurement of legal-literacy and critical-thinking outcomes.</a:t>
            </a:r>
          </a:p>
        </p:txBody>
      </p:sp>
      <p:sp>
        <p:nvSpPr>
          <p:cNvPr id="21" name="Text 17"/>
          <p:cNvSpPr/>
          <p:nvPr/>
        </p:nvSpPr>
        <p:spPr>
          <a:xfrm>
            <a:off x="914400" y="4206240"/>
            <a:ext cx="10058400" cy="1737360"/>
          </a:xfrm>
          <a:prstGeom prst="rect">
            <a:avLst/>
          </a:prstGeom>
          <a:noFill/>
          <a:ln/>
        </p:spPr>
        <p:txBody>
          <a:bodyPr wrap="square" lIns="762" tIns="762" rIns="762" bIns="762" rtlCol="0" anchor="t">
            <a:normAutofit/>
          </a:bodyPr>
          <a:lstStyle/>
          <a:p>
            <a:r>
              <a:rPr sz="1220">
                <a:solidFill>
                  <a:srgbClr val="182B49"/>
                </a:solidFill>
                <a:latin typeface="HSE Sans Regular"/>
              </a:rPr>
              <a:t>- Add new scenarios, including peer-pressure and detention-related support.</a:t>
            </a:r>
          </a:p>
          <a:p>
            <a:r>
              <a:rPr sz="1220">
                <a:solidFill>
                  <a:srgbClr val="182B49"/>
                </a:solidFill>
                <a:latin typeface="HSE Sans Regular"/>
              </a:rPr>
              <a:t>- Replace remaining generic elements with fully LawVoice-specific components.</a:t>
            </a:r>
          </a:p>
          <a:p>
            <a:r>
              <a:rPr sz="1220">
                <a:solidFill>
                  <a:srgbClr val="182B49"/>
                </a:solidFill>
                <a:latin typeface="HSE Sans Regular"/>
              </a:rPr>
              <a:t>- Prepare pilot testing in an educational environment.</a:t>
            </a:r>
          </a:p>
          <a:p>
            <a:r>
              <a:rPr sz="1220">
                <a:solidFill>
                  <a:srgbClr val="182B49"/>
                </a:solidFill>
                <a:latin typeface="HSE Sans Regular"/>
              </a:rPr>
              <a:t>- Develop metrics for response quality, safety, and educational usefulness.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14</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Expected Results and Conclusions</a:t>
            </a:r>
            <a:endParaRPr lang="en-US" sz="2250" dirty="0">
              <a:solidFill>
                <a:srgbClr val="182B49"/>
              </a:solidFill>
              <a:latin typeface="HSE Slab Black" panose="02000000000000000000" pitchFamily="50" charset="0"/>
            </a:endParaRPr>
          </a:p>
        </p:txBody>
      </p:sp>
      <p:sp>
        <p:nvSpPr>
          <p:cNvPr id="12" name="Shape 8"/>
          <p:cNvSpPr/>
          <p:nvPr/>
        </p:nvSpPr>
        <p:spPr>
          <a:xfrm>
            <a:off x="749808" y="2057400"/>
            <a:ext cx="10652760" cy="3474720"/>
          </a:xfrm>
          <a:prstGeom prst="roundRect">
            <a:avLst>
              <a:gd name="adj" fmla="val 1579"/>
            </a:avLst>
          </a:prstGeom>
          <a:solidFill>
            <a:srgbClr val="FFFFFF"/>
          </a:solidFill>
          <a:ln w="12700">
            <a:solidFill>
              <a:srgbClr val="D6DCE8"/>
            </a:solidFill>
            <a:prstDash val="solid"/>
          </a:ln>
        </p:spPr>
      </p:sp>
      <p:sp>
        <p:nvSpPr>
          <p:cNvPr id="13" name="Text 9"/>
          <p:cNvSpPr/>
          <p:nvPr/>
        </p:nvSpPr>
        <p:spPr>
          <a:xfrm>
            <a:off x="877824" y="2167128"/>
            <a:ext cx="10396728" cy="3291840"/>
          </a:xfrm>
          <a:prstGeom prst="rect">
            <a:avLst/>
          </a:prstGeom>
          <a:noFill/>
          <a:ln/>
        </p:spPr>
        <p:txBody>
          <a:bodyPr wrap="square" lIns="0" tIns="0" rIns="0" bIns="0" rtlCol="0" anchor="ctr">
            <a:normAutofit/>
          </a:bodyPr>
          <a:lstStyle/>
          <a:p>
            <a:r>
              <a:rPr sz="1220">
                <a:solidFill>
                  <a:srgbClr val="182B49"/>
                </a:solidFill>
                <a:latin typeface="HSE Sans Regular"/>
              </a:rPr>
              <a:t>1. The project defines a feasible concept of a voice-first educational legal assistant for teenagers.</a:t>
            </a:r>
          </a:p>
          <a:p>
            <a:endParaRPr sz="1220">
              <a:solidFill>
                <a:srgbClr val="182B49"/>
              </a:solidFill>
              <a:latin typeface="HSE Sans Regular"/>
            </a:endParaRPr>
          </a:p>
          <a:p>
            <a:r>
              <a:rPr sz="1220">
                <a:solidFill>
                  <a:srgbClr val="182B49"/>
                </a:solidFill>
                <a:latin typeface="HSE Sans Regular"/>
              </a:rPr>
              <a:t>2. The current MVP shows that realtime voice interaction can support structured reasoning: facts, risks, options, and the next step.</a:t>
            </a:r>
          </a:p>
          <a:p>
            <a:endParaRPr sz="1220">
              <a:solidFill>
                <a:srgbClr val="182B49"/>
              </a:solidFill>
              <a:latin typeface="HSE Sans Regular"/>
            </a:endParaRPr>
          </a:p>
          <a:p>
            <a:r>
              <a:rPr sz="1220">
                <a:solidFill>
                  <a:srgbClr val="182B49"/>
                </a:solidFill>
                <a:latin typeface="HSE Sans Regular"/>
              </a:rPr>
              <a:t>3. The prototype provides a basis for future expert review, pilot testing, and impact evaluation rather than finalized legal guidance.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15</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250" dirty="0">
                <a:solidFill>
                  <a:srgbClr val="182B49"/>
                </a:solidFill>
                <a:latin typeface="HSE Slab Black" panose="02000000000000000000" pitchFamily="50" charset="0"/>
                <a:ea typeface="Arial" pitchFamily="34" charset="-122"/>
                <a:cs typeface="Arial" pitchFamily="34" charset="-120"/>
              </a:rPr>
              <a:t>References</a:t>
            </a:r>
            <a:endParaRPr lang="en-US" sz="2250" dirty="0">
              <a:solidFill>
                <a:srgbClr val="182B49"/>
              </a:solidFill>
              <a:latin typeface="HSE Slab Black" panose="02000000000000000000" pitchFamily="50" charset="0"/>
            </a:endParaRPr>
          </a:p>
        </p:txBody>
      </p:sp>
      <p:sp>
        <p:nvSpPr>
          <p:cNvPr id="12" name="Text 8"/>
          <p:cNvSpPr/>
          <p:nvPr/>
        </p:nvSpPr>
        <p:spPr>
          <a:xfrm>
            <a:off x="804672" y="1828800"/>
            <a:ext cx="10424160" cy="3931920"/>
          </a:xfrm>
          <a:prstGeom prst="rect">
            <a:avLst/>
          </a:prstGeom>
          <a:noFill/>
          <a:ln/>
        </p:spPr>
        <p:txBody>
          <a:bodyPr wrap="square" lIns="0" tIns="0" rIns="0" bIns="0" rtlCol="0" anchor="ctr">
            <a:normAutofit/>
          </a:bodyPr>
          <a:lstStyle/>
          <a:p>
            <a:r>
              <a:rPr sz="1220">
                <a:solidFill>
                  <a:srgbClr val="182B49"/>
                </a:solidFill>
                <a:latin typeface="HSE Sans Regular"/>
              </a:rPr>
              <a:t>1. LawVoice MVP. https://allaw-urist.ru/</a:t>
            </a:r>
          </a:p>
          <a:p>
            <a:endParaRPr sz="1220">
              <a:solidFill>
                <a:srgbClr val="182B49"/>
              </a:solidFill>
              <a:latin typeface="HSE Sans Regular"/>
            </a:endParaRPr>
          </a:p>
          <a:p>
            <a:r>
              <a:rPr sz="1220">
                <a:solidFill>
                  <a:srgbClr val="182B49"/>
                </a:solidFill>
                <a:latin typeface="HSE Sans Regular"/>
              </a:rPr>
              <a:t>2. OpenAI. Realtime API documentation. https://platform.openai.com/docs/api-reference/realtime-sessions</a:t>
            </a:r>
          </a:p>
          <a:p>
            <a:endParaRPr sz="1220">
              <a:solidFill>
                <a:srgbClr val="182B49"/>
              </a:solidFill>
              <a:latin typeface="HSE Sans Regular"/>
            </a:endParaRPr>
          </a:p>
          <a:p>
            <a:r>
              <a:rPr sz="1220">
                <a:solidFill>
                  <a:srgbClr val="182B49"/>
                </a:solidFill>
                <a:latin typeface="HSE Sans Regular"/>
              </a:rPr>
              <a:t>3. LawVoice project repository. README and current MVP implementation.</a:t>
            </a:r>
          </a:p>
          <a:p>
            <a:endParaRPr sz="1220">
              <a:solidFill>
                <a:srgbClr val="182B49"/>
              </a:solidFill>
              <a:latin typeface="HSE Sans Regular"/>
            </a:endParaRPr>
          </a:p>
          <a:p>
            <a:r>
              <a:rPr sz="1220">
                <a:solidFill>
                  <a:srgbClr val="182B49"/>
                </a:solidFill>
                <a:latin typeface="HSE Sans Regular"/>
              </a:rPr>
              <a:t>4. Project note: LawVoice General Character Prompt.</a:t>
            </a:r>
          </a:p>
          <a:p>
            <a:endParaRPr sz="1220">
              <a:solidFill>
                <a:srgbClr val="182B49"/>
              </a:solidFill>
              <a:latin typeface="HSE Sans Regular"/>
            </a:endParaRPr>
          </a:p>
          <a:p>
            <a:r>
              <a:rPr sz="1220">
                <a:solidFill>
                  <a:srgbClr val="182B49"/>
                </a:solidFill>
                <a:latin typeface="HSE Sans Regular"/>
              </a:rPr>
              <a:t>5. Project note: Voice Assistant Architecture.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16</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150" dirty="0">
                <a:solidFill>
                  <a:srgbClr val="182B49"/>
                </a:solidFill>
                <a:latin typeface="HSE Slab Black" panose="02000000000000000000" pitchFamily="50" charset="0"/>
                <a:ea typeface="Arial" pitchFamily="34" charset="-122"/>
                <a:cs typeface="Arial" pitchFamily="34" charset="-120"/>
              </a:rPr>
              <a:t>Appendix: Draft Main Screen Structure</a:t>
            </a:r>
            <a:endParaRPr lang="en-US" sz="2150" dirty="0">
              <a:solidFill>
                <a:srgbClr val="182B49"/>
              </a:solidFill>
              <a:latin typeface="HSE Slab Black" panose="02000000000000000000" pitchFamily="50" charset="0"/>
            </a:endParaRPr>
          </a:p>
        </p:txBody>
      </p:sp>
      <p:sp>
        <p:nvSpPr>
          <p:cNvPr id="12" name="Shape 8"/>
          <p:cNvSpPr/>
          <p:nvPr/>
        </p:nvSpPr>
        <p:spPr>
          <a:xfrm>
            <a:off x="749808" y="1828800"/>
            <a:ext cx="10744200" cy="3977640"/>
          </a:xfrm>
          <a:prstGeom prst="roundRect">
            <a:avLst>
              <a:gd name="adj" fmla="val 920"/>
            </a:avLst>
          </a:prstGeom>
          <a:solidFill>
            <a:srgbClr val="FBFCFE"/>
          </a:solidFill>
          <a:ln w="12700">
            <a:solidFill>
              <a:srgbClr val="D6DCE8"/>
            </a:solidFill>
            <a:prstDash val="solid"/>
          </a:ln>
        </p:spPr>
      </p:sp>
      <p:sp>
        <p:nvSpPr>
          <p:cNvPr id="13" name="Shape 9"/>
          <p:cNvSpPr/>
          <p:nvPr/>
        </p:nvSpPr>
        <p:spPr>
          <a:xfrm>
            <a:off x="914400" y="2029968"/>
            <a:ext cx="2331720" cy="3566160"/>
          </a:xfrm>
          <a:prstGeom prst="roundRect">
            <a:avLst>
              <a:gd name="adj" fmla="val 2353"/>
            </a:avLst>
          </a:prstGeom>
          <a:solidFill>
            <a:srgbClr val="FFFFFF"/>
          </a:solidFill>
          <a:ln w="12700">
            <a:solidFill>
              <a:srgbClr val="D6DCE8"/>
            </a:solidFill>
            <a:prstDash val="solid"/>
          </a:ln>
        </p:spPr>
      </p:sp>
      <p:sp>
        <p:nvSpPr>
          <p:cNvPr id="14" name="Shape 10"/>
          <p:cNvSpPr/>
          <p:nvPr/>
        </p:nvSpPr>
        <p:spPr>
          <a:xfrm>
            <a:off x="914400" y="2029968"/>
            <a:ext cx="2331720" cy="310896"/>
          </a:xfrm>
          <a:prstGeom prst="rect">
            <a:avLst/>
          </a:prstGeom>
          <a:solidFill>
            <a:srgbClr val="0F2E68"/>
          </a:solidFill>
          <a:ln w="12700">
            <a:solidFill>
              <a:srgbClr val="0F2E68"/>
            </a:solidFill>
            <a:prstDash val="solid"/>
          </a:ln>
        </p:spPr>
      </p:sp>
      <p:sp>
        <p:nvSpPr>
          <p:cNvPr id="15" name="Text 11"/>
          <p:cNvSpPr/>
          <p:nvPr/>
        </p:nvSpPr>
        <p:spPr>
          <a:xfrm>
            <a:off x="1024128" y="2093976"/>
            <a:ext cx="2112264"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Left column</a:t>
            </a:r>
            <a:endParaRPr lang="en-US" sz="1400" dirty="0">
              <a:solidFill>
                <a:srgbClr val="D6E4F5"/>
              </a:solidFill>
              <a:latin typeface="HSE Slab Regular"/>
            </a:endParaRPr>
          </a:p>
        </p:txBody>
      </p:sp>
      <p:sp>
        <p:nvSpPr>
          <p:cNvPr id="16" name="Text 12"/>
          <p:cNvSpPr/>
          <p:nvPr/>
        </p:nvSpPr>
        <p:spPr>
          <a:xfrm>
            <a:off x="1042416" y="2414016"/>
            <a:ext cx="2075688" cy="3108960"/>
          </a:xfrm>
          <a:prstGeom prst="rect">
            <a:avLst/>
          </a:prstGeom>
          <a:noFill/>
          <a:ln/>
        </p:spPr>
        <p:txBody>
          <a:bodyPr wrap="square" lIns="0" tIns="0" rIns="0" bIns="0" rtlCol="0" anchor="ctr">
            <a:normAutofit/>
          </a:bodyPr>
          <a:lstStyle/>
          <a:p>
            <a:r>
              <a:rPr sz="1520">
                <a:solidFill>
                  <a:srgbClr val="182B49"/>
                </a:solidFill>
                <a:latin typeface="HSE Sans Regular"/>
              </a:rPr>
              <a:t>Persona and dialogue style</a:t>
            </a:r>
          </a:p>
          <a:p>
            <a:r>
              <a:rPr sz="1520">
                <a:solidFill>
                  <a:srgbClr val="182B49"/>
                </a:solidFill>
                <a:latin typeface="HSE Sans Regular"/>
              </a:rPr>
              <a:t>Age mode</a:t>
            </a:r>
          </a:p>
          <a:p>
            <a:r>
              <a:rPr sz="1520">
                <a:solidFill>
                  <a:srgbClr val="182B49"/>
                </a:solidFill>
                <a:latin typeface="HSE Sans Regular"/>
              </a:rPr>
              <a:t>Rules</a:t>
            </a:r>
          </a:p>
          <a:p>
            <a:r>
              <a:rPr sz="1520">
                <a:solidFill>
                  <a:srgbClr val="182B49"/>
                </a:solidFill>
                <a:latin typeface="HSE Sans Regular"/>
              </a:rPr>
              <a:t>Base prompt</a:t>
            </a:r>
          </a:p>
          <a:p>
            <a:r>
              <a:rPr sz="1520">
                <a:solidFill>
                  <a:srgbClr val="182B49"/>
                </a:solidFill>
                <a:latin typeface="HSE Sans Regular"/>
              </a:rPr>
              <a:t>Profiles</a:t>
            </a:r>
          </a:p>
        </p:txBody>
      </p:sp>
      <p:sp>
        <p:nvSpPr>
          <p:cNvPr id="17" name="Shape 13"/>
          <p:cNvSpPr/>
          <p:nvPr/>
        </p:nvSpPr>
        <p:spPr>
          <a:xfrm>
            <a:off x="3493008" y="2029968"/>
            <a:ext cx="4297680" cy="1371600"/>
          </a:xfrm>
          <a:prstGeom prst="roundRect">
            <a:avLst>
              <a:gd name="adj" fmla="val 4000"/>
            </a:avLst>
          </a:prstGeom>
          <a:solidFill>
            <a:srgbClr val="FFFFFF"/>
          </a:solidFill>
          <a:ln w="12700">
            <a:solidFill>
              <a:srgbClr val="D6DCE8"/>
            </a:solidFill>
            <a:prstDash val="solid"/>
          </a:ln>
        </p:spPr>
      </p:sp>
      <p:sp>
        <p:nvSpPr>
          <p:cNvPr id="18" name="Shape 14"/>
          <p:cNvSpPr/>
          <p:nvPr/>
        </p:nvSpPr>
        <p:spPr>
          <a:xfrm>
            <a:off x="3493008" y="2029968"/>
            <a:ext cx="4297680" cy="310896"/>
          </a:xfrm>
          <a:prstGeom prst="rect">
            <a:avLst/>
          </a:prstGeom>
          <a:solidFill>
            <a:srgbClr val="0F2E68"/>
          </a:solidFill>
          <a:ln w="12700">
            <a:solidFill>
              <a:srgbClr val="0F2E68"/>
            </a:solidFill>
            <a:prstDash val="solid"/>
          </a:ln>
        </p:spPr>
      </p:sp>
      <p:sp>
        <p:nvSpPr>
          <p:cNvPr id="19" name="Text 15"/>
          <p:cNvSpPr/>
          <p:nvPr/>
        </p:nvSpPr>
        <p:spPr>
          <a:xfrm>
            <a:off x="3602736" y="2093976"/>
            <a:ext cx="4078224"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Central area</a:t>
            </a:r>
            <a:endParaRPr lang="en-US" sz="1400" dirty="0">
              <a:solidFill>
                <a:srgbClr val="D6E4F5"/>
              </a:solidFill>
              <a:latin typeface="HSE Slab Regular"/>
            </a:endParaRPr>
          </a:p>
        </p:txBody>
      </p:sp>
      <p:sp>
        <p:nvSpPr>
          <p:cNvPr id="20" name="Text 16"/>
          <p:cNvSpPr/>
          <p:nvPr/>
        </p:nvSpPr>
        <p:spPr>
          <a:xfrm>
            <a:off x="3621024" y="2414016"/>
            <a:ext cx="4041648" cy="914400"/>
          </a:xfrm>
          <a:prstGeom prst="rect">
            <a:avLst/>
          </a:prstGeom>
          <a:noFill/>
          <a:ln/>
        </p:spPr>
        <p:txBody>
          <a:bodyPr wrap="square" lIns="0" tIns="0" rIns="0" bIns="0" rtlCol="0" anchor="ctr">
            <a:normAutofit/>
          </a:bodyPr>
          <a:lstStyle/>
          <a:p>
            <a:r>
              <a:rPr sz="1520">
                <a:solidFill>
                  <a:srgbClr val="182B49"/>
                </a:solidFill>
                <a:latin typeface="HSE Sans Regular"/>
              </a:rPr>
              <a:t>Voice dialogue</a:t>
            </a:r>
          </a:p>
          <a:p>
            <a:r>
              <a:rPr sz="1520">
                <a:solidFill>
                  <a:srgbClr val="182B49"/>
                </a:solidFill>
                <a:latin typeface="HSE Sans Regular"/>
              </a:rPr>
              <a:t>Start / end session</a:t>
            </a:r>
          </a:p>
          <a:p>
            <a:r>
              <a:rPr sz="1520">
                <a:solidFill>
                  <a:srgbClr val="182B49"/>
                </a:solidFill>
                <a:latin typeface="HSE Sans Regular"/>
              </a:rPr>
              <a:t>Microphone / audio visualization</a:t>
            </a:r>
          </a:p>
        </p:txBody>
      </p:sp>
      <p:sp>
        <p:nvSpPr>
          <p:cNvPr id="21" name="Shape 17"/>
          <p:cNvSpPr/>
          <p:nvPr/>
        </p:nvSpPr>
        <p:spPr>
          <a:xfrm>
            <a:off x="3493008" y="3639312"/>
            <a:ext cx="4297680" cy="1956816"/>
          </a:xfrm>
          <a:prstGeom prst="roundRect">
            <a:avLst>
              <a:gd name="adj" fmla="val 2804"/>
            </a:avLst>
          </a:prstGeom>
          <a:solidFill>
            <a:srgbClr val="FFFFFF"/>
          </a:solidFill>
          <a:ln w="12700">
            <a:solidFill>
              <a:srgbClr val="D6DCE8"/>
            </a:solidFill>
            <a:prstDash val="solid"/>
          </a:ln>
        </p:spPr>
      </p:sp>
      <p:sp>
        <p:nvSpPr>
          <p:cNvPr id="22" name="Shape 18"/>
          <p:cNvSpPr/>
          <p:nvPr/>
        </p:nvSpPr>
        <p:spPr>
          <a:xfrm>
            <a:off x="3493008" y="3639312"/>
            <a:ext cx="4297680" cy="310896"/>
          </a:xfrm>
          <a:prstGeom prst="rect">
            <a:avLst/>
          </a:prstGeom>
          <a:solidFill>
            <a:srgbClr val="0F2E68"/>
          </a:solidFill>
          <a:ln w="12700">
            <a:solidFill>
              <a:srgbClr val="0F2E68"/>
            </a:solidFill>
            <a:prstDash val="solid"/>
          </a:ln>
        </p:spPr>
      </p:sp>
      <p:sp>
        <p:nvSpPr>
          <p:cNvPr id="23" name="Text 19"/>
          <p:cNvSpPr/>
          <p:nvPr/>
        </p:nvSpPr>
        <p:spPr>
          <a:xfrm>
            <a:off x="3602736" y="3703320"/>
            <a:ext cx="4078224"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Lower central area</a:t>
            </a:r>
            <a:endParaRPr lang="en-US" sz="1320" dirty="0">
              <a:solidFill>
                <a:srgbClr val="D6E4F5"/>
              </a:solidFill>
              <a:latin typeface="HSE Slab Regular"/>
            </a:endParaRPr>
          </a:p>
        </p:txBody>
      </p:sp>
      <p:sp>
        <p:nvSpPr>
          <p:cNvPr id="24" name="Text 20"/>
          <p:cNvSpPr/>
          <p:nvPr/>
        </p:nvSpPr>
        <p:spPr>
          <a:xfrm>
            <a:off x="3621024" y="4023360"/>
            <a:ext cx="4041648" cy="1499616"/>
          </a:xfrm>
          <a:prstGeom prst="rect">
            <a:avLst/>
          </a:prstGeom>
          <a:noFill/>
          <a:ln/>
        </p:spPr>
        <p:txBody>
          <a:bodyPr wrap="square" lIns="0" tIns="0" rIns="0" bIns="0" rtlCol="0" anchor="ctr">
            <a:normAutofit/>
          </a:bodyPr>
          <a:lstStyle/>
          <a:p>
            <a:r>
              <a:rPr sz="1220">
                <a:solidFill>
                  <a:srgbClr val="28497A"/>
                </a:solidFill>
                <a:latin typeface="HSE Slab Regular"/>
              </a:rPr>
              <a:t>Dialogue</a:t>
            </a:r>
          </a:p>
          <a:p>
            <a:r>
              <a:rPr sz="1220">
                <a:solidFill>
                  <a:srgbClr val="28497A"/>
                </a:solidFill>
                <a:latin typeface="HSE Slab Regular"/>
              </a:rPr>
              <a:t>Action log</a:t>
            </a:r>
          </a:p>
          <a:p>
            <a:r>
              <a:rPr sz="1220">
                <a:solidFill>
                  <a:srgbClr val="28497A"/>
                </a:solidFill>
                <a:latin typeface="HSE Slab Regular"/>
              </a:rPr>
              <a:t>Draft action plan</a:t>
            </a:r>
          </a:p>
        </p:txBody>
      </p:sp>
      <p:sp>
        <p:nvSpPr>
          <p:cNvPr id="25" name="Shape 21"/>
          <p:cNvSpPr/>
          <p:nvPr/>
        </p:nvSpPr>
        <p:spPr>
          <a:xfrm>
            <a:off x="8046720" y="2029968"/>
            <a:ext cx="2377440" cy="1371600"/>
          </a:xfrm>
          <a:prstGeom prst="roundRect">
            <a:avLst>
              <a:gd name="adj" fmla="val 4000"/>
            </a:avLst>
          </a:prstGeom>
          <a:solidFill>
            <a:srgbClr val="FFFFFF"/>
          </a:solidFill>
          <a:ln w="12700">
            <a:solidFill>
              <a:srgbClr val="D6DCE8"/>
            </a:solidFill>
            <a:prstDash val="solid"/>
          </a:ln>
        </p:spPr>
      </p:sp>
      <p:sp>
        <p:nvSpPr>
          <p:cNvPr id="26" name="Shape 22"/>
          <p:cNvSpPr/>
          <p:nvPr/>
        </p:nvSpPr>
        <p:spPr>
          <a:xfrm>
            <a:off x="8046720" y="2029968"/>
            <a:ext cx="2377440" cy="310896"/>
          </a:xfrm>
          <a:prstGeom prst="rect">
            <a:avLst/>
          </a:prstGeom>
          <a:solidFill>
            <a:srgbClr val="0F2E68"/>
          </a:solidFill>
          <a:ln w="12700">
            <a:solidFill>
              <a:srgbClr val="0F2E68"/>
            </a:solidFill>
            <a:prstDash val="solid"/>
          </a:ln>
        </p:spPr>
      </p:sp>
      <p:sp>
        <p:nvSpPr>
          <p:cNvPr id="27" name="Text 23"/>
          <p:cNvSpPr/>
          <p:nvPr/>
        </p:nvSpPr>
        <p:spPr>
          <a:xfrm>
            <a:off x="8156448" y="2093976"/>
            <a:ext cx="2157984" cy="164592"/>
          </a:xfrm>
          <a:prstGeom prst="rect">
            <a:avLst/>
          </a:prstGeom>
          <a:noFill/>
          <a:ln/>
        </p:spPr>
        <p:txBody>
          <a:bodyPr wrap="square" lIns="0" tIns="0" rIns="0" bIns="0" rtlCol="0" anchor="ctr">
            <a:noAutofit/>
          </a:bodyPr>
          <a:lstStyle/>
          <a:p>
            <a:pPr marL="0" indent="0">
              <a:buNone/>
            </a:pPr>
            <a:r>
              <a:rPr lang="en-US" sz="1400" b="1" dirty="0">
                <a:solidFill>
                  <a:srgbClr val="D6E4F5"/>
                </a:solidFill>
                <a:latin typeface="HSE Slab Regular"/>
                <a:ea typeface="Arial" pitchFamily="34" charset="-122"/>
                <a:cs typeface="Arial" pitchFamily="34" charset="-120"/>
              </a:rPr>
              <a:t>Right column</a:t>
            </a:r>
            <a:endParaRPr lang="en-US" sz="1400" dirty="0">
              <a:solidFill>
                <a:srgbClr val="D6E4F5"/>
              </a:solidFill>
              <a:latin typeface="HSE Slab Regular"/>
            </a:endParaRPr>
          </a:p>
        </p:txBody>
      </p:sp>
      <p:sp>
        <p:nvSpPr>
          <p:cNvPr id="28" name="Text 24"/>
          <p:cNvSpPr/>
          <p:nvPr/>
        </p:nvSpPr>
        <p:spPr>
          <a:xfrm>
            <a:off x="8174736" y="2414016"/>
            <a:ext cx="2121408" cy="914400"/>
          </a:xfrm>
          <a:prstGeom prst="rect">
            <a:avLst/>
          </a:prstGeom>
          <a:noFill/>
          <a:ln/>
        </p:spPr>
        <p:txBody>
          <a:bodyPr wrap="square" lIns="0" tIns="0" rIns="0" bIns="0" rtlCol="0" anchor="ctr">
            <a:normAutofit/>
          </a:bodyPr>
          <a:lstStyle/>
          <a:p>
            <a:r>
              <a:rPr sz="1520">
                <a:solidFill>
                  <a:srgbClr val="182B49"/>
                </a:solidFill>
                <a:latin typeface="HSE Sans Regular"/>
              </a:rPr>
              <a:t>Scenario hints and materials</a:t>
            </a:r>
          </a:p>
          <a:p>
            <a:r>
              <a:rPr sz="1520">
                <a:solidFill>
                  <a:srgbClr val="182B49"/>
                </a:solidFill>
                <a:latin typeface="HSE Sans Regular"/>
              </a:rPr>
              <a:t>Knowledge base</a:t>
            </a:r>
          </a:p>
        </p:txBody>
      </p:sp>
      <p:sp>
        <p:nvSpPr>
          <p:cNvPr id="29" name="Shape 25"/>
          <p:cNvSpPr/>
          <p:nvPr/>
        </p:nvSpPr>
        <p:spPr>
          <a:xfrm>
            <a:off x="8046720" y="3639312"/>
            <a:ext cx="2377440" cy="1956816"/>
          </a:xfrm>
          <a:prstGeom prst="roundRect">
            <a:avLst>
              <a:gd name="adj" fmla="val 2804"/>
            </a:avLst>
          </a:prstGeom>
          <a:solidFill>
            <a:srgbClr val="FFFFFF"/>
          </a:solidFill>
          <a:ln w="12700">
            <a:solidFill>
              <a:srgbClr val="D6DCE8"/>
            </a:solidFill>
            <a:prstDash val="solid"/>
          </a:ln>
        </p:spPr>
      </p:sp>
      <p:sp>
        <p:nvSpPr>
          <p:cNvPr id="30" name="Shape 26"/>
          <p:cNvSpPr/>
          <p:nvPr/>
        </p:nvSpPr>
        <p:spPr>
          <a:xfrm>
            <a:off x="8046720" y="3639312"/>
            <a:ext cx="2377440" cy="310896"/>
          </a:xfrm>
          <a:prstGeom prst="rect">
            <a:avLst/>
          </a:prstGeom>
          <a:solidFill>
            <a:srgbClr val="0F2E68"/>
          </a:solidFill>
          <a:ln w="12700">
            <a:solidFill>
              <a:srgbClr val="0F2E68"/>
            </a:solidFill>
            <a:prstDash val="solid"/>
          </a:ln>
        </p:spPr>
      </p:sp>
      <p:sp>
        <p:nvSpPr>
          <p:cNvPr id="31" name="Text 27"/>
          <p:cNvSpPr/>
          <p:nvPr/>
        </p:nvSpPr>
        <p:spPr>
          <a:xfrm>
            <a:off x="8156448" y="3703320"/>
            <a:ext cx="2157984" cy="164592"/>
          </a:xfrm>
          <a:prstGeom prst="rect">
            <a:avLst/>
          </a:prstGeom>
          <a:noFill/>
          <a:ln/>
        </p:spPr>
        <p:txBody>
          <a:bodyPr wrap="square" lIns="0" tIns="0" rIns="0" bIns="0" rtlCol="0" anchor="ctr">
            <a:noAutofit/>
          </a:bodyPr>
          <a:lstStyle/>
          <a:p>
            <a:pPr marL="0" indent="0">
              <a:buNone/>
            </a:pPr>
            <a:r>
              <a:rPr lang="en-US" sz="1320" b="1" dirty="0">
                <a:solidFill>
                  <a:srgbClr val="D6E4F5"/>
                </a:solidFill>
                <a:latin typeface="HSE Slab Regular"/>
                <a:ea typeface="Arial" pitchFamily="34" charset="-122"/>
                <a:cs typeface="Arial" pitchFamily="34" charset="-120"/>
              </a:rPr>
              <a:t>Lower right area</a:t>
            </a:r>
            <a:endParaRPr lang="en-US" sz="1320" dirty="0">
              <a:solidFill>
                <a:srgbClr val="D6E4F5"/>
              </a:solidFill>
              <a:latin typeface="HSE Slab Regular"/>
            </a:endParaRPr>
          </a:p>
        </p:txBody>
      </p:sp>
      <p:sp>
        <p:nvSpPr>
          <p:cNvPr id="32" name="Text 28"/>
          <p:cNvSpPr/>
          <p:nvPr/>
        </p:nvSpPr>
        <p:spPr>
          <a:xfrm>
            <a:off x="8174736" y="4023360"/>
            <a:ext cx="2121408" cy="1499616"/>
          </a:xfrm>
          <a:prstGeom prst="rect">
            <a:avLst/>
          </a:prstGeom>
          <a:noFill/>
          <a:ln/>
        </p:spPr>
        <p:txBody>
          <a:bodyPr wrap="square" lIns="0" tIns="0" rIns="0" bIns="0" rtlCol="0" anchor="ctr">
            <a:normAutofit/>
          </a:bodyPr>
          <a:lstStyle/>
          <a:p>
            <a:r>
              <a:rPr sz="1520">
                <a:solidFill>
                  <a:srgbClr val="182B49"/>
                </a:solidFill>
                <a:latin typeface="HSE Sans Regular"/>
              </a:rPr>
              <a:t>Learning analytics</a:t>
            </a:r>
          </a:p>
          <a:p>
            <a:r>
              <a:rPr sz="1520">
                <a:solidFill>
                  <a:srgbClr val="182B49"/>
                </a:solidFill>
                <a:latin typeface="HSE Sans Regular"/>
              </a:rPr>
              <a:t>Technical panel</a:t>
            </a:r>
          </a:p>
          <a:p>
            <a:r>
              <a:rPr sz="1520">
                <a:solidFill>
                  <a:srgbClr val="182B49"/>
                </a:solidFill>
                <a:latin typeface="HSE Sans Regular"/>
              </a:rPr>
              <a:t>API cost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mnt/data/template_extract/ppt/media/image3.jpg"/>
          <p:cNvPicPr>
            <a:picLocks noChangeAspect="1"/>
          </p:cNvPicPr>
          <p:nvPr/>
        </p:nvPicPr>
        <p:blipFill>
          <a:blip r:embed="rId3"/>
          <a:stretch>
            <a:fillRect/>
          </a:stretch>
        </p:blipFill>
        <p:spPr>
          <a:xfrm>
            <a:off x="0" y="0"/>
            <a:ext cx="12191695" cy="6858000"/>
          </a:xfrm>
          <a:prstGeom prst="rect">
            <a:avLst/>
          </a:prstGeom>
        </p:spPr>
      </p:pic>
      <p:pic>
        <p:nvPicPr>
          <p:cNvPr id="3" name="Image 1" descr="/mnt/data/template_extract/ppt/media/image4.png"/>
          <p:cNvPicPr>
            <a:picLocks noChangeAspect="1"/>
          </p:cNvPicPr>
          <p:nvPr/>
        </p:nvPicPr>
        <p:blipFill>
          <a:blip r:embed="rId4"/>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Faculty of Computer Science</a:t>
            </a:r>
            <a:endParaRPr lang="en-US" sz="750" dirty="0">
              <a:solidFill>
                <a:srgbClr val="28497A"/>
              </a:solidFill>
              <a:latin typeface="HSESans-SemiBold" pitchFamily="50" charset="-52"/>
            </a:endParaRPr>
          </a:p>
        </p:txBody>
      </p:sp>
      <p:sp>
        <p:nvSpPr>
          <p:cNvPr id="5" name="Text 1"/>
          <p:cNvSpPr/>
          <p:nvPr/>
        </p:nvSpPr>
        <p:spPr>
          <a:xfrm>
            <a:off x="2212848" y="164592"/>
            <a:ext cx="178308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Data Science and Business Analytics</a:t>
            </a:r>
            <a:endParaRPr lang="en-US" sz="750" dirty="0">
              <a:solidFill>
                <a:srgbClr val="28497A"/>
              </a:solidFill>
              <a:latin typeface="HSESans-SemiBold" pitchFamily="50" charset="-52"/>
            </a:endParaRPr>
          </a:p>
        </p:txBody>
      </p:sp>
      <p:sp>
        <p:nvSpPr>
          <p:cNvPr id="6" name="Text 2"/>
          <p:cNvSpPr/>
          <p:nvPr/>
        </p:nvSpPr>
        <p:spPr>
          <a:xfrm>
            <a:off x="4343400" y="164592"/>
            <a:ext cx="5989320" cy="292608"/>
          </a:xfrm>
          <a:prstGeom prst="rect">
            <a:avLst/>
          </a:prstGeom>
          <a:noFill/>
          <a:ln/>
        </p:spPr>
        <p:txBody>
          <a:bodyPr wrap="square" lIns="0" tIns="0" rIns="0" bIns="0" rtlCol="0" anchor="ctr">
            <a:normAutofit/>
          </a:bodyPr>
          <a:lstStyle/>
          <a:p>
            <a:pPr marL="0" indent="0" algn="l">
              <a:buNone/>
            </a:pPr>
            <a:r>
              <a:rPr lang="en-US" sz="750" dirty="0">
                <a:solidFill>
                  <a:srgbClr val="28497A"/>
                </a:solidFill>
                <a:latin typeface="HSESans-SemiBold" pitchFamily="50" charset="-52"/>
                <a:ea typeface="Arial" pitchFamily="34" charset="-122"/>
                <a:cs typeface="Arial" pitchFamily="34" charset="-120"/>
              </a:rPr>
              <a:t>LawVoice: Voice-Based Legal Assistant</a:t>
            </a:r>
            <a:endParaRPr lang="en-US" sz="750" dirty="0">
              <a:solidFill>
                <a:srgbClr val="28497A"/>
              </a:solidFill>
              <a:latin typeface="HSESans-SemiBold" pitchFamily="50" charset="-52"/>
            </a:endParaRPr>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normAutofit/>
          </a:bodyPr>
          <a:lstStyle/>
          <a:p>
            <a:pPr marL="0" indent="0" algn="ctr">
              <a:buNone/>
            </a:pPr>
            <a:r>
              <a:rPr lang="en-US" sz="750" dirty="0">
                <a:solidFill>
                  <a:srgbClr val="28497A"/>
                </a:solidFill>
                <a:latin typeface="HSESans-SemiBold" pitchFamily="50" charset="-52"/>
                <a:ea typeface="Arial" pitchFamily="34" charset="-122"/>
                <a:cs typeface="Arial" pitchFamily="34" charset="-120"/>
              </a:rPr>
              <a:t>17</a:t>
            </a:r>
            <a:endParaRPr lang="en-US" sz="750" dirty="0">
              <a:solidFill>
                <a:srgbClr val="28497A"/>
              </a:solidFill>
              <a:latin typeface="HSESans-SemiBold" pitchFamily="50" charset="-52"/>
            </a:endParaRPr>
          </a:p>
        </p:txBody>
      </p:sp>
      <p:sp>
        <p:nvSpPr>
          <p:cNvPr id="11" name="Text 7"/>
          <p:cNvSpPr/>
          <p:nvPr/>
        </p:nvSpPr>
        <p:spPr>
          <a:xfrm>
            <a:off x="512064" y="1298448"/>
            <a:ext cx="10972800" cy="384048"/>
          </a:xfrm>
          <a:prstGeom prst="rect">
            <a:avLst/>
          </a:prstGeom>
          <a:noFill/>
          <a:ln/>
        </p:spPr>
        <p:txBody>
          <a:bodyPr wrap="square" lIns="0" tIns="0" rIns="0" bIns="0" rtlCol="0" anchor="ctr">
            <a:normAutofit/>
          </a:bodyPr>
          <a:lstStyle/>
          <a:p>
            <a:pPr marL="0" indent="0">
              <a:buNone/>
            </a:pPr>
            <a:r>
              <a:rPr lang="en-US" sz="2150" dirty="0">
                <a:solidFill>
                  <a:srgbClr val="182B49"/>
                </a:solidFill>
                <a:latin typeface="HSE Slab Black" panose="02000000000000000000" pitchFamily="50" charset="0"/>
                <a:ea typeface="Arial" pitchFamily="34" charset="-122"/>
                <a:cs typeface="Arial" pitchFamily="34" charset="-120"/>
              </a:rPr>
              <a:t>Appendix: Educational Voice Session Logic</a:t>
            </a:r>
            <a:endParaRPr lang="en-US" sz="2150" dirty="0">
              <a:solidFill>
                <a:srgbClr val="182B49"/>
              </a:solidFill>
              <a:latin typeface="HSE Slab Black" panose="02000000000000000000" pitchFamily="50" charset="0"/>
            </a:endParaRPr>
          </a:p>
        </p:txBody>
      </p:sp>
      <p:sp>
        <p:nvSpPr>
          <p:cNvPr id="12" name="Shape 8"/>
          <p:cNvSpPr/>
          <p:nvPr/>
        </p:nvSpPr>
        <p:spPr>
          <a:xfrm>
            <a:off x="868680" y="2743200"/>
            <a:ext cx="1600200" cy="1508760"/>
          </a:xfrm>
          <a:prstGeom prst="roundRect">
            <a:avLst>
              <a:gd name="adj" fmla="val 4848"/>
            </a:avLst>
          </a:prstGeom>
          <a:solidFill>
            <a:srgbClr val="0F2E68"/>
          </a:solidFill>
          <a:ln w="12700">
            <a:solidFill>
              <a:srgbClr val="0F2E68"/>
            </a:solidFill>
            <a:prstDash val="solid"/>
          </a:ln>
        </p:spPr>
      </p:sp>
      <p:sp>
        <p:nvSpPr>
          <p:cNvPr id="13" name="Text 9"/>
          <p:cNvSpPr/>
          <p:nvPr/>
        </p:nvSpPr>
        <p:spPr>
          <a:xfrm>
            <a:off x="978408" y="2852928"/>
            <a:ext cx="138074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Situation</a:t>
            </a:r>
            <a:endParaRPr lang="en-US" sz="1400" dirty="0">
              <a:solidFill>
                <a:srgbClr val="D6E4F5"/>
              </a:solidFill>
              <a:latin typeface="HSE Slab Regular"/>
            </a:endParaRPr>
          </a:p>
        </p:txBody>
      </p:sp>
      <p:sp>
        <p:nvSpPr>
          <p:cNvPr id="14" name="Text 10"/>
          <p:cNvSpPr/>
          <p:nvPr/>
        </p:nvSpPr>
        <p:spPr>
          <a:xfrm>
            <a:off x="978408" y="3145536"/>
            <a:ext cx="1380744" cy="1033272"/>
          </a:xfrm>
          <a:prstGeom prst="rect">
            <a:avLst/>
          </a:prstGeom>
          <a:noFill/>
          <a:ln/>
        </p:spPr>
        <p:txBody>
          <a:bodyPr wrap="square" lIns="0" tIns="0" rIns="0" bIns="0" rtlCol="0" anchor="ctr">
            <a:normAutofit/>
          </a:bodyPr>
          <a:lstStyle/>
          <a:p>
            <a:r>
              <a:rPr sz="1520">
                <a:solidFill>
                  <a:srgbClr val="F8FAFC"/>
                </a:solidFill>
                <a:latin typeface="HSE Sans Regular"/>
              </a:rPr>
              <a:t>The user describes the case or chooses a scenario</a:t>
            </a:r>
          </a:p>
        </p:txBody>
      </p:sp>
      <p:sp>
        <p:nvSpPr>
          <p:cNvPr id="15" name="Shape 11"/>
          <p:cNvSpPr/>
          <p:nvPr/>
        </p:nvSpPr>
        <p:spPr>
          <a:xfrm>
            <a:off x="2569464" y="3255264"/>
            <a:ext cx="292608" cy="256032"/>
          </a:xfrm>
          <a:prstGeom prst="chevron">
            <a:avLst/>
          </a:prstGeom>
          <a:solidFill>
            <a:srgbClr val="2F5FB7"/>
          </a:solidFill>
          <a:ln w="12700">
            <a:solidFill>
              <a:srgbClr val="2F5FB7"/>
            </a:solidFill>
            <a:prstDash val="solid"/>
          </a:ln>
        </p:spPr>
      </p:sp>
      <p:sp>
        <p:nvSpPr>
          <p:cNvPr id="16" name="Shape 12"/>
          <p:cNvSpPr/>
          <p:nvPr/>
        </p:nvSpPr>
        <p:spPr>
          <a:xfrm>
            <a:off x="3063240" y="2743200"/>
            <a:ext cx="1600200" cy="1508760"/>
          </a:xfrm>
          <a:prstGeom prst="roundRect">
            <a:avLst>
              <a:gd name="adj" fmla="val 4848"/>
            </a:avLst>
          </a:prstGeom>
          <a:solidFill>
            <a:srgbClr val="0F2E68"/>
          </a:solidFill>
          <a:ln w="12700">
            <a:solidFill>
              <a:srgbClr val="0F2E68"/>
            </a:solidFill>
            <a:prstDash val="solid"/>
          </a:ln>
        </p:spPr>
      </p:sp>
      <p:sp>
        <p:nvSpPr>
          <p:cNvPr id="17" name="Text 13"/>
          <p:cNvSpPr/>
          <p:nvPr/>
        </p:nvSpPr>
        <p:spPr>
          <a:xfrm>
            <a:off x="3172968" y="2852928"/>
            <a:ext cx="138074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Facts</a:t>
            </a:r>
            <a:endParaRPr lang="en-US" sz="1400" dirty="0">
              <a:solidFill>
                <a:srgbClr val="D6E4F5"/>
              </a:solidFill>
              <a:latin typeface="HSE Slab Regular"/>
            </a:endParaRPr>
          </a:p>
        </p:txBody>
      </p:sp>
      <p:sp>
        <p:nvSpPr>
          <p:cNvPr id="18" name="Text 14"/>
          <p:cNvSpPr/>
          <p:nvPr/>
        </p:nvSpPr>
        <p:spPr>
          <a:xfrm>
            <a:off x="3172968" y="3145536"/>
            <a:ext cx="1380744" cy="1033272"/>
          </a:xfrm>
          <a:prstGeom prst="rect">
            <a:avLst/>
          </a:prstGeom>
          <a:noFill/>
          <a:ln/>
        </p:spPr>
        <p:txBody>
          <a:bodyPr wrap="square" lIns="0" tIns="0" rIns="0" bIns="0" rtlCol="0" anchor="ctr">
            <a:normAutofit/>
          </a:bodyPr>
          <a:lstStyle/>
          <a:p>
            <a:r>
              <a:rPr sz="1220">
                <a:solidFill>
                  <a:srgbClr val="D6E4F5"/>
                </a:solidFill>
                <a:latin typeface="HSE Slab Regular"/>
              </a:rPr>
              <a:t>The assistant clarifies key details</a:t>
            </a:r>
          </a:p>
        </p:txBody>
      </p:sp>
      <p:sp>
        <p:nvSpPr>
          <p:cNvPr id="19" name="Shape 15"/>
          <p:cNvSpPr/>
          <p:nvPr/>
        </p:nvSpPr>
        <p:spPr>
          <a:xfrm>
            <a:off x="4764024" y="3255264"/>
            <a:ext cx="292608" cy="256032"/>
          </a:xfrm>
          <a:prstGeom prst="chevron">
            <a:avLst/>
          </a:prstGeom>
          <a:solidFill>
            <a:srgbClr val="2F5FB7"/>
          </a:solidFill>
          <a:ln w="12700">
            <a:solidFill>
              <a:srgbClr val="2F5FB7"/>
            </a:solidFill>
            <a:prstDash val="solid"/>
          </a:ln>
        </p:spPr>
      </p:sp>
      <p:sp>
        <p:nvSpPr>
          <p:cNvPr id="20" name="Shape 16"/>
          <p:cNvSpPr/>
          <p:nvPr/>
        </p:nvSpPr>
        <p:spPr>
          <a:xfrm>
            <a:off x="5257800" y="2743200"/>
            <a:ext cx="1600200" cy="1508760"/>
          </a:xfrm>
          <a:prstGeom prst="roundRect">
            <a:avLst>
              <a:gd name="adj" fmla="val 4848"/>
            </a:avLst>
          </a:prstGeom>
          <a:solidFill>
            <a:srgbClr val="0F2E68"/>
          </a:solidFill>
          <a:ln w="12700">
            <a:solidFill>
              <a:srgbClr val="0F2E68"/>
            </a:solidFill>
            <a:prstDash val="solid"/>
          </a:ln>
        </p:spPr>
      </p:sp>
      <p:sp>
        <p:nvSpPr>
          <p:cNvPr id="21" name="Text 17"/>
          <p:cNvSpPr/>
          <p:nvPr/>
        </p:nvSpPr>
        <p:spPr>
          <a:xfrm>
            <a:off x="5367528" y="2852928"/>
            <a:ext cx="1380744" cy="256032"/>
          </a:xfrm>
          <a:prstGeom prst="rect">
            <a:avLst/>
          </a:prstGeom>
          <a:noFill/>
          <a:ln/>
        </p:spPr>
        <p:txBody>
          <a:bodyPr wrap="square" lIns="0" tIns="0" rIns="0" bIns="0" rtlCol="0" anchor="ctr">
            <a:normAutofit/>
          </a:bodyPr>
          <a:lstStyle/>
          <a:p>
            <a:pPr marL="0" indent="0">
              <a:buNone/>
            </a:pPr>
            <a:r>
              <a:rPr lang="en-US" sz="1320" b="1" dirty="0">
                <a:solidFill>
                  <a:srgbClr val="D6E4F5"/>
                </a:solidFill>
                <a:latin typeface="HSE Slab Regular"/>
                <a:ea typeface="Arial" pitchFamily="34" charset="-122"/>
                <a:cs typeface="Arial" pitchFamily="34" charset="-120"/>
              </a:rPr>
              <a:t>Rules and risks</a:t>
            </a:r>
            <a:endParaRPr lang="en-US" sz="1320" dirty="0">
              <a:solidFill>
                <a:srgbClr val="D6E4F5"/>
              </a:solidFill>
              <a:latin typeface="HSE Slab Regular"/>
            </a:endParaRPr>
          </a:p>
        </p:txBody>
      </p:sp>
      <p:sp>
        <p:nvSpPr>
          <p:cNvPr id="22" name="Text 18"/>
          <p:cNvSpPr/>
          <p:nvPr/>
        </p:nvSpPr>
        <p:spPr>
          <a:xfrm>
            <a:off x="5367528" y="3145536"/>
            <a:ext cx="1380744" cy="1033272"/>
          </a:xfrm>
          <a:prstGeom prst="rect">
            <a:avLst/>
          </a:prstGeom>
          <a:noFill/>
          <a:ln/>
        </p:spPr>
        <p:txBody>
          <a:bodyPr wrap="square" lIns="0" tIns="0" rIns="0" bIns="0" rtlCol="0" anchor="ctr">
            <a:noAutofit/>
          </a:bodyPr>
          <a:lstStyle/>
          <a:p>
            <a:r>
              <a:rPr sz="1520">
                <a:solidFill>
                  <a:srgbClr val="F8FAFC"/>
                </a:solidFill>
                <a:latin typeface="HSE Sans Regular"/>
              </a:rPr>
              <a:t>LawVoice explains rights and safety factors in simple language</a:t>
            </a:r>
          </a:p>
        </p:txBody>
      </p:sp>
      <p:sp>
        <p:nvSpPr>
          <p:cNvPr id="23" name="Shape 19"/>
          <p:cNvSpPr/>
          <p:nvPr/>
        </p:nvSpPr>
        <p:spPr>
          <a:xfrm>
            <a:off x="6958584" y="3255264"/>
            <a:ext cx="292608" cy="256032"/>
          </a:xfrm>
          <a:prstGeom prst="chevron">
            <a:avLst/>
          </a:prstGeom>
          <a:solidFill>
            <a:srgbClr val="2F5FB7"/>
          </a:solidFill>
          <a:ln w="12700">
            <a:solidFill>
              <a:srgbClr val="2F5FB7"/>
            </a:solidFill>
            <a:prstDash val="solid"/>
          </a:ln>
        </p:spPr>
      </p:sp>
      <p:sp>
        <p:nvSpPr>
          <p:cNvPr id="24" name="Shape 20"/>
          <p:cNvSpPr/>
          <p:nvPr/>
        </p:nvSpPr>
        <p:spPr>
          <a:xfrm>
            <a:off x="7452360" y="2743200"/>
            <a:ext cx="1600200" cy="1508760"/>
          </a:xfrm>
          <a:prstGeom prst="roundRect">
            <a:avLst>
              <a:gd name="adj" fmla="val 4848"/>
            </a:avLst>
          </a:prstGeom>
          <a:solidFill>
            <a:srgbClr val="0F2E68"/>
          </a:solidFill>
          <a:ln w="12700">
            <a:solidFill>
              <a:srgbClr val="0F2E68"/>
            </a:solidFill>
            <a:prstDash val="solid"/>
          </a:ln>
        </p:spPr>
      </p:sp>
      <p:sp>
        <p:nvSpPr>
          <p:cNvPr id="25" name="Text 21"/>
          <p:cNvSpPr/>
          <p:nvPr/>
        </p:nvSpPr>
        <p:spPr>
          <a:xfrm>
            <a:off x="7562088" y="2852928"/>
            <a:ext cx="138074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Decisions</a:t>
            </a:r>
            <a:endParaRPr lang="en-US" sz="1400" dirty="0">
              <a:solidFill>
                <a:srgbClr val="D6E4F5"/>
              </a:solidFill>
              <a:latin typeface="HSE Slab Regular"/>
            </a:endParaRPr>
          </a:p>
        </p:txBody>
      </p:sp>
      <p:sp>
        <p:nvSpPr>
          <p:cNvPr id="26" name="Text 22"/>
          <p:cNvSpPr/>
          <p:nvPr/>
        </p:nvSpPr>
        <p:spPr>
          <a:xfrm>
            <a:off x="7562088" y="3145536"/>
            <a:ext cx="1380744" cy="1033272"/>
          </a:xfrm>
          <a:prstGeom prst="rect">
            <a:avLst/>
          </a:prstGeom>
          <a:noFill/>
          <a:ln/>
        </p:spPr>
        <p:txBody>
          <a:bodyPr wrap="square" lIns="0" tIns="0" rIns="0" bIns="0" rtlCol="0" anchor="ctr">
            <a:normAutofit/>
          </a:bodyPr>
          <a:lstStyle/>
          <a:p>
            <a:r>
              <a:rPr sz="1220">
                <a:solidFill>
                  <a:srgbClr val="D6E4F5"/>
                </a:solidFill>
                <a:latin typeface="HSE Slab Regular"/>
              </a:rPr>
              <a:t>2-3 possible next steps</a:t>
            </a:r>
          </a:p>
        </p:txBody>
      </p:sp>
      <p:sp>
        <p:nvSpPr>
          <p:cNvPr id="27" name="Shape 23"/>
          <p:cNvSpPr/>
          <p:nvPr/>
        </p:nvSpPr>
        <p:spPr>
          <a:xfrm>
            <a:off x="9153144" y="3255264"/>
            <a:ext cx="292608" cy="256032"/>
          </a:xfrm>
          <a:prstGeom prst="chevron">
            <a:avLst/>
          </a:prstGeom>
          <a:solidFill>
            <a:srgbClr val="2F5FB7"/>
          </a:solidFill>
          <a:ln w="12700">
            <a:solidFill>
              <a:srgbClr val="2F5FB7"/>
            </a:solidFill>
            <a:prstDash val="solid"/>
          </a:ln>
        </p:spPr>
      </p:sp>
      <p:sp>
        <p:nvSpPr>
          <p:cNvPr id="28" name="Shape 24"/>
          <p:cNvSpPr/>
          <p:nvPr/>
        </p:nvSpPr>
        <p:spPr>
          <a:xfrm>
            <a:off x="9646920" y="2743200"/>
            <a:ext cx="1600200" cy="1508760"/>
          </a:xfrm>
          <a:prstGeom prst="roundRect">
            <a:avLst>
              <a:gd name="adj" fmla="val 4848"/>
            </a:avLst>
          </a:prstGeom>
          <a:solidFill>
            <a:srgbClr val="0F2E68"/>
          </a:solidFill>
          <a:ln w="12700">
            <a:solidFill>
              <a:srgbClr val="0F2E68"/>
            </a:solidFill>
            <a:prstDash val="solid"/>
          </a:ln>
        </p:spPr>
      </p:sp>
      <p:sp>
        <p:nvSpPr>
          <p:cNvPr id="29" name="Text 25"/>
          <p:cNvSpPr/>
          <p:nvPr/>
        </p:nvSpPr>
        <p:spPr>
          <a:xfrm>
            <a:off x="9756648" y="2852928"/>
            <a:ext cx="1380744" cy="256032"/>
          </a:xfrm>
          <a:prstGeom prst="rect">
            <a:avLst/>
          </a:prstGeom>
          <a:noFill/>
          <a:ln/>
        </p:spPr>
        <p:txBody>
          <a:bodyPr wrap="square" lIns="0" tIns="0" rIns="0" bIns="0" rtlCol="0" anchor="ctr">
            <a:normAutofit/>
          </a:bodyPr>
          <a:lstStyle/>
          <a:p>
            <a:pPr marL="0" indent="0">
              <a:buNone/>
            </a:pPr>
            <a:r>
              <a:rPr lang="en-US" sz="1400" b="1" dirty="0">
                <a:solidFill>
                  <a:srgbClr val="D6E4F5"/>
                </a:solidFill>
                <a:latin typeface="HSE Slab Regular"/>
                <a:ea typeface="Arial" pitchFamily="34" charset="-122"/>
                <a:cs typeface="Arial" pitchFamily="34" charset="-120"/>
              </a:rPr>
              <a:t>Outcome</a:t>
            </a:r>
            <a:endParaRPr lang="en-US" sz="1400" dirty="0">
              <a:solidFill>
                <a:srgbClr val="D6E4F5"/>
              </a:solidFill>
              <a:latin typeface="HSE Slab Regular"/>
            </a:endParaRPr>
          </a:p>
        </p:txBody>
      </p:sp>
      <p:sp>
        <p:nvSpPr>
          <p:cNvPr id="30" name="Text 26"/>
          <p:cNvSpPr/>
          <p:nvPr/>
        </p:nvSpPr>
        <p:spPr>
          <a:xfrm>
            <a:off x="9756648" y="3145536"/>
            <a:ext cx="1380744" cy="1033272"/>
          </a:xfrm>
          <a:prstGeom prst="rect">
            <a:avLst/>
          </a:prstGeom>
          <a:noFill/>
          <a:ln/>
        </p:spPr>
        <p:txBody>
          <a:bodyPr wrap="square" lIns="0" tIns="0" rIns="0" bIns="0" rtlCol="0" anchor="ctr">
            <a:normAutofit/>
          </a:bodyPr>
          <a:lstStyle/>
          <a:p>
            <a:r>
              <a:rPr sz="1220">
                <a:solidFill>
                  <a:srgbClr val="D6E4F5"/>
                </a:solidFill>
                <a:latin typeface="HSE Slab Regular"/>
              </a:rPr>
              <a:t>Recommended action + 24-hour checklist</a:t>
            </a:r>
          </a:p>
        </p:txBody>
      </p:sp>
      <p:sp>
        <p:nvSpPr>
          <p:cNvPr id="31" name="Shape 27"/>
          <p:cNvSpPr/>
          <p:nvPr/>
        </p:nvSpPr>
        <p:spPr>
          <a:xfrm>
            <a:off x="1280160" y="4892040"/>
            <a:ext cx="9555480" cy="749808"/>
          </a:xfrm>
          <a:prstGeom prst="roundRect">
            <a:avLst>
              <a:gd name="adj" fmla="val 7317"/>
            </a:avLst>
          </a:prstGeom>
          <a:solidFill>
            <a:srgbClr val="F5F7FB"/>
          </a:solidFill>
          <a:ln w="12700">
            <a:solidFill>
              <a:srgbClr val="D6DCE8"/>
            </a:solidFill>
            <a:prstDash val="solid"/>
          </a:ln>
        </p:spPr>
      </p:sp>
      <p:sp>
        <p:nvSpPr>
          <p:cNvPr id="32" name="Text 28"/>
          <p:cNvSpPr/>
          <p:nvPr/>
        </p:nvSpPr>
        <p:spPr>
          <a:xfrm>
            <a:off x="1408176" y="5001768"/>
            <a:ext cx="9299448" cy="566928"/>
          </a:xfrm>
          <a:prstGeom prst="rect">
            <a:avLst/>
          </a:prstGeom>
          <a:noFill/>
          <a:ln/>
        </p:spPr>
        <p:txBody>
          <a:bodyPr wrap="square" lIns="0" tIns="0" rIns="0" bIns="0" rtlCol="0" anchor="ctr">
            <a:normAutofit/>
          </a:bodyPr>
          <a:lstStyle/>
          <a:p>
            <a:r>
              <a:rPr sz="1520">
                <a:solidFill>
                  <a:srgbClr val="182B49"/>
                </a:solidFill>
                <a:latin typeface="HSE Sans Regular"/>
              </a:rPr>
              <a:t>This flow is suitable both for a product demonstration and for a later educational study.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mnt/data/02_HSE_Presentation_Shablon_eng/slide-13.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3291840" y="5029200"/>
            <a:ext cx="5669280" cy="320040"/>
          </a:xfrm>
          <a:prstGeom prst="rect">
            <a:avLst/>
          </a:prstGeom>
          <a:noFill/>
          <a:ln/>
        </p:spPr>
        <p:txBody>
          <a:bodyPr wrap="square" lIns="0" tIns="0" rIns="0" bIns="0" rtlCol="0" anchor="ctr">
            <a:normAutofit/>
          </a:bodyPr>
          <a:lstStyle/>
          <a:p>
            <a:pPr marL="0" indent="0" algn="ctr">
              <a:buNone/>
            </a:pPr>
            <a:r>
              <a:rPr lang="en-US" sz="1850" dirty="0">
                <a:solidFill>
                  <a:srgbClr val="F8FAFC"/>
                </a:solidFill>
                <a:latin typeface="HSE Slab Black" panose="02000000000000000000" pitchFamily="50" charset="0"/>
                <a:ea typeface="Arial" pitchFamily="34" charset="-122"/>
                <a:cs typeface="Arial" pitchFamily="34" charset="-120"/>
              </a:rPr>
              <a:t>Thank you for your attention</a:t>
            </a:r>
            <a:endParaRPr lang="en-US" sz="1850" dirty="0">
              <a:solidFill>
                <a:srgbClr val="F8FAFC"/>
              </a:solidFill>
              <a:latin typeface="HSE Slab Black" panose="02000000000000000000" pitchFamily="50"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3000</Words>
  <Application>Microsoft Office PowerPoint</Application>
  <PresentationFormat>Широкоэкранный</PresentationFormat>
  <Paragraphs>333</Paragraphs>
  <Slides>18</Slides>
  <Notes>18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18</vt:i4>
      </vt:variant>
    </vt:vector>
  </HeadingPairs>
  <TitlesOfParts>
    <vt:vector size="25" baseType="lpstr">
      <vt:lpstr>Arial</vt:lpstr>
      <vt:lpstr>Calibri</vt:lpstr>
      <vt:lpstr>HSE Sans Regular</vt:lpstr>
      <vt:lpstr>HSE Slab Black</vt:lpstr>
      <vt:lpstr>HSE Slab Regular</vt:lpstr>
      <vt:lpstr>HSESans-SemiBold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2026-03-18T19:15:58Z</dcterms:created>
  <dcterms:modified xsi:type="dcterms:W3CDTF">2026-03-18T19:16:05Z</dcterms:modified>
</cp:coreProperties>
</file>